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63" r:id="rId3"/>
    <p:sldId id="257" r:id="rId4"/>
    <p:sldId id="258" r:id="rId5"/>
    <p:sldId id="259" r:id="rId6"/>
    <p:sldId id="260" r:id="rId7"/>
    <p:sldId id="261" r:id="rId8"/>
    <p:sldId id="262" r:id="rId9"/>
  </p:sldIdLst>
  <p:sldSz cx="14630400" cy="8229600"/>
  <p:notesSz cx="8229600" cy="14630400"/>
  <p:embeddedFontLst>
    <p:embeddedFont>
      <p:font typeface="Imprint MT Shadow" panose="04020605060303030202" pitchFamily="82" charset="0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5024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E98AF9-0B40-2C49-DE52-1FCF7A102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2662E3-75DD-FEE7-810B-E207FE4EEC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FCCAF9-0B3A-8015-895D-59E17EE845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2F7E47-15FD-1126-07BA-2AAEB8223D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2343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4.png"/><Relationship Id="rId5" Type="http://schemas.openxmlformats.org/officeDocument/2006/relationships/image" Target="../media/image23.svg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2475" y="1181555"/>
            <a:ext cx="474392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dirty="0">
                <a:solidFill>
                  <a:srgbClr val="3F6FF3"/>
                </a:solidFill>
                <a:latin typeface="Times New Roman" panose="02020603050405020304" pitchFamily="18" charset="0"/>
                <a:ea typeface="Outfit Medium" pitchFamily="34" charset="-122"/>
                <a:cs typeface="Times New Roman" panose="02020603050405020304" pitchFamily="18" charset="0"/>
              </a:rPr>
              <a:t>Telecommunications Analytics Project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793790" y="1800382"/>
            <a:ext cx="7780055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5400" b="1" dirty="0">
                <a:solidFill>
                  <a:srgbClr val="3F6FF3"/>
                </a:solidFill>
                <a:latin typeface="Times New Roman" panose="02020603050405020304" pitchFamily="18" charset="0"/>
                <a:ea typeface="Outfit Medium" pitchFamily="34" charset="-122"/>
                <a:cs typeface="Times New Roman" panose="02020603050405020304" pitchFamily="18" charset="0"/>
              </a:rPr>
              <a:t>Telco Customer Churn &amp; Sentiment Analysis</a:t>
            </a:r>
            <a:endParaRPr lang="en-US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793790" y="3560051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A comprehensive data-driven analysis examining customer churn patterns and sentiment indicators within the telecommunications industry. This project combines advanced analytics with customer feedback to identify critical retention opportunities and revenue protection strategies.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2278351" y="5299934"/>
            <a:ext cx="1399699" cy="426244"/>
          </a:xfrm>
          <a:prstGeom prst="roundRect">
            <a:avLst>
              <a:gd name="adj" fmla="val 38315"/>
            </a:avLst>
          </a:prstGeom>
          <a:solidFill>
            <a:srgbClr val="CFDBFC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373928" y="5454001"/>
            <a:ext cx="181451" cy="18145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686616" y="5367919"/>
            <a:ext cx="855345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POWER BI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5"/>
          <p:cNvSpPr/>
          <p:nvPr/>
        </p:nvSpPr>
        <p:spPr>
          <a:xfrm>
            <a:off x="3791397" y="5299934"/>
            <a:ext cx="1251228" cy="426244"/>
          </a:xfrm>
          <a:prstGeom prst="roundRect">
            <a:avLst>
              <a:gd name="adj" fmla="val 38315"/>
            </a:avLst>
          </a:prstGeom>
          <a:solidFill>
            <a:srgbClr val="CFDBFC"/>
          </a:solidFill>
          <a:ln/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25724" y="5431676"/>
            <a:ext cx="181451" cy="18145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199662" y="5367919"/>
            <a:ext cx="706874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PYTHON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7"/>
          <p:cNvSpPr/>
          <p:nvPr/>
        </p:nvSpPr>
        <p:spPr>
          <a:xfrm>
            <a:off x="1245617" y="6142691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Author:</a:t>
            </a:r>
            <a:r>
              <a:rPr lang="en-US" sz="1750" dirty="0"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 Ayesha Banu | MSc. Computer Science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5">
            <a:extLst>
              <a:ext uri="{FF2B5EF4-FFF2-40B4-BE49-F238E27FC236}">
                <a16:creationId xmlns:a16="http://schemas.microsoft.com/office/drawing/2014/main" id="{88AC5B8C-98EB-C022-4179-7359565FA2FD}"/>
              </a:ext>
            </a:extLst>
          </p:cNvPr>
          <p:cNvSpPr/>
          <p:nvPr/>
        </p:nvSpPr>
        <p:spPr>
          <a:xfrm>
            <a:off x="5178713" y="5309280"/>
            <a:ext cx="1251228" cy="426244"/>
          </a:xfrm>
          <a:prstGeom prst="roundRect">
            <a:avLst>
              <a:gd name="adj" fmla="val 38315"/>
            </a:avLst>
          </a:prstGeom>
          <a:solidFill>
            <a:srgbClr val="CFDBFC"/>
          </a:solidFill>
          <a:ln/>
        </p:spPr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NLP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70CBA2C-19B6-3B46-F814-D153359A0EBB}"/>
              </a:ext>
            </a:extLst>
          </p:cNvPr>
          <p:cNvSpPr txBox="1"/>
          <p:nvPr/>
        </p:nvSpPr>
        <p:spPr>
          <a:xfrm>
            <a:off x="1245617" y="6592649"/>
            <a:ext cx="41345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Role: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Analyst / Data Science Fresher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463666-FDDE-C155-72FF-3DA15B47D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F58D03E7-F96B-ED91-83D0-9E4A8F87C020}"/>
              </a:ext>
            </a:extLst>
          </p:cNvPr>
          <p:cNvSpPr/>
          <p:nvPr/>
        </p:nvSpPr>
        <p:spPr>
          <a:xfrm>
            <a:off x="7107043" y="1308116"/>
            <a:ext cx="474392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📊 </a:t>
            </a:r>
            <a:r>
              <a:rPr lang="en-US" sz="2800" dirty="0">
                <a:solidFill>
                  <a:srgbClr val="3F6FF3"/>
                </a:solidFill>
                <a:latin typeface="Times New Roman" panose="02020603050405020304" pitchFamily="18" charset="0"/>
                <a:ea typeface="Outfit Medium" pitchFamily="34" charset="-122"/>
                <a:cs typeface="Times New Roman" panose="02020603050405020304" pitchFamily="18" charset="0"/>
              </a:rPr>
              <a:t>Data Used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CDA90935-1F5F-3A61-B9A5-80D5FAEC3E74}"/>
              </a:ext>
            </a:extLst>
          </p:cNvPr>
          <p:cNvSpPr/>
          <p:nvPr/>
        </p:nvSpPr>
        <p:spPr>
          <a:xfrm>
            <a:off x="7394092" y="1821241"/>
            <a:ext cx="6956701" cy="1180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Demographics: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gender, senior citizen, partner, dependents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 Details: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internet type, contract, payment method, service count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Financial Metrics: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monthly charges, total charges, tenure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Feedback (Text):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used for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sentiment analysis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7D164DC6-54AB-AF08-77BD-7C6EB1836A0A}"/>
              </a:ext>
            </a:extLst>
          </p:cNvPr>
          <p:cNvSpPr/>
          <p:nvPr/>
        </p:nvSpPr>
        <p:spPr>
          <a:xfrm>
            <a:off x="7947598" y="5041758"/>
            <a:ext cx="1605193" cy="426244"/>
          </a:xfrm>
          <a:prstGeom prst="roundRect">
            <a:avLst>
              <a:gd name="adj" fmla="val 38315"/>
            </a:avLst>
          </a:prstGeom>
          <a:solidFill>
            <a:srgbClr val="CFDBFC"/>
          </a:solidFill>
          <a:ln/>
        </p:spPr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9E9DBD43-CED4-293C-1478-DBE840671A98}"/>
              </a:ext>
            </a:extLst>
          </p:cNvPr>
          <p:cNvSpPr/>
          <p:nvPr/>
        </p:nvSpPr>
        <p:spPr>
          <a:xfrm>
            <a:off x="8355863" y="5109743"/>
            <a:ext cx="855345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b="1" dirty="0">
                <a:latin typeface="Imprint MT Shadow" panose="04020605060303030202" pitchFamily="82" charset="0"/>
                <a:ea typeface="IBM Plex Sans" pitchFamily="34" charset="-122"/>
                <a:cs typeface="IBM Plex Sans" pitchFamily="34" charset="-120"/>
              </a:rPr>
              <a:t>POWER BI</a:t>
            </a:r>
            <a:endParaRPr lang="en-US" sz="1400" b="1" dirty="0">
              <a:latin typeface="Imprint MT Shadow" panose="04020605060303030202" pitchFamily="82" charset="0"/>
            </a:endParaRPr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6C2887D5-17C8-CD56-9D98-F6545369154F}"/>
              </a:ext>
            </a:extLst>
          </p:cNvPr>
          <p:cNvSpPr/>
          <p:nvPr/>
        </p:nvSpPr>
        <p:spPr>
          <a:xfrm>
            <a:off x="10584769" y="5041758"/>
            <a:ext cx="1431527" cy="426244"/>
          </a:xfrm>
          <a:prstGeom prst="roundRect">
            <a:avLst>
              <a:gd name="adj" fmla="val 38315"/>
            </a:avLst>
          </a:prstGeom>
          <a:solidFill>
            <a:srgbClr val="CFDBFC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95F843C5-A3D6-687D-2195-4D6FDFD2F230}"/>
              </a:ext>
            </a:extLst>
          </p:cNvPr>
          <p:cNvSpPr/>
          <p:nvPr/>
        </p:nvSpPr>
        <p:spPr>
          <a:xfrm>
            <a:off x="10907520" y="5109743"/>
            <a:ext cx="706874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b="1" dirty="0">
                <a:latin typeface="Imprint MT Shadow" panose="04020605060303030202" pitchFamily="82" charset="0"/>
                <a:ea typeface="IBM Plex Sans" pitchFamily="34" charset="-122"/>
                <a:cs typeface="IBM Plex Sans" pitchFamily="34" charset="-120"/>
              </a:rPr>
              <a:t>PYTHON</a:t>
            </a:r>
            <a:endParaRPr lang="en-US" sz="1400" b="1" dirty="0">
              <a:latin typeface="Imprint MT Shadow" panose="04020605060303030202" pitchFamily="82" charset="0"/>
            </a:endParaRPr>
          </a:p>
        </p:txBody>
      </p:sp>
      <p:sp>
        <p:nvSpPr>
          <p:cNvPr id="13" name="Shape 5">
            <a:extLst>
              <a:ext uri="{FF2B5EF4-FFF2-40B4-BE49-F238E27FC236}">
                <a16:creationId xmlns:a16="http://schemas.microsoft.com/office/drawing/2014/main" id="{D1D6F0A3-1E0E-F029-D726-5C1A63EC0314}"/>
              </a:ext>
            </a:extLst>
          </p:cNvPr>
          <p:cNvSpPr/>
          <p:nvPr/>
        </p:nvSpPr>
        <p:spPr>
          <a:xfrm>
            <a:off x="7926081" y="6072701"/>
            <a:ext cx="1605193" cy="426244"/>
          </a:xfrm>
          <a:prstGeom prst="roundRect">
            <a:avLst>
              <a:gd name="adj" fmla="val 38315"/>
            </a:avLst>
          </a:prstGeom>
          <a:solidFill>
            <a:srgbClr val="CFDBFC"/>
          </a:solidFill>
          <a:ln/>
        </p:spPr>
        <p:txBody>
          <a:bodyPr/>
          <a:lstStyle/>
          <a:p>
            <a:pPr algn="ctr"/>
            <a:r>
              <a:rPr lang="en-IN" b="1" dirty="0">
                <a:latin typeface="Imprint MT Shadow" panose="04020605060303030202" pitchFamily="82" charset="0"/>
              </a:rPr>
              <a:t>NLP</a:t>
            </a:r>
          </a:p>
        </p:txBody>
      </p:sp>
      <p:sp>
        <p:nvSpPr>
          <p:cNvPr id="14" name="Shape 5">
            <a:extLst>
              <a:ext uri="{FF2B5EF4-FFF2-40B4-BE49-F238E27FC236}">
                <a16:creationId xmlns:a16="http://schemas.microsoft.com/office/drawing/2014/main" id="{0B3F0D08-B30F-2CE7-2659-D1BC0421BB63}"/>
              </a:ext>
            </a:extLst>
          </p:cNvPr>
          <p:cNvSpPr/>
          <p:nvPr/>
        </p:nvSpPr>
        <p:spPr>
          <a:xfrm>
            <a:off x="10567345" y="6072701"/>
            <a:ext cx="2234255" cy="426244"/>
          </a:xfrm>
          <a:prstGeom prst="roundRect">
            <a:avLst>
              <a:gd name="adj" fmla="val 38315"/>
            </a:avLst>
          </a:prstGeom>
          <a:solidFill>
            <a:srgbClr val="CFDBFC"/>
          </a:solidFill>
          <a:ln/>
        </p:spPr>
        <p:txBody>
          <a:bodyPr/>
          <a:lstStyle/>
          <a:p>
            <a:pPr algn="ctr"/>
            <a:r>
              <a:rPr lang="en-US" b="1" dirty="0">
                <a:latin typeface="Imprint MT Shadow" panose="04020605060303030202" pitchFamily="82" charset="0"/>
              </a:rPr>
              <a:t>Machine Learning</a:t>
            </a:r>
            <a:endParaRPr lang="en-IN" b="1" dirty="0">
              <a:latin typeface="Imprint MT Shadow" panose="04020605060303030202" pitchFamily="8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DB473F1-F9C4-1D32-EC0C-2099D162EDFA}"/>
              </a:ext>
            </a:extLst>
          </p:cNvPr>
          <p:cNvSpPr txBox="1"/>
          <p:nvPr/>
        </p:nvSpPr>
        <p:spPr>
          <a:xfrm>
            <a:off x="773413" y="382924"/>
            <a:ext cx="12007810" cy="7207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4400" b="1" dirty="0">
                <a:solidFill>
                  <a:srgbClr val="3F6FF3"/>
                </a:solidFill>
                <a:latin typeface="Times New Roman" panose="02020603050405020304" pitchFamily="18" charset="0"/>
                <a:ea typeface="Outfit Medium" pitchFamily="34" charset="-122"/>
                <a:cs typeface="Times New Roman" panose="02020603050405020304" pitchFamily="18" charset="0"/>
              </a:rPr>
              <a:t>Business Problem, Data &amp; Analytical Approach</a:t>
            </a:r>
            <a:endParaRPr lang="en-US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0">
            <a:extLst>
              <a:ext uri="{FF2B5EF4-FFF2-40B4-BE49-F238E27FC236}">
                <a16:creationId xmlns:a16="http://schemas.microsoft.com/office/drawing/2014/main" id="{2BA410D2-F546-A55C-5C35-E4C4CCC7D5CF}"/>
              </a:ext>
            </a:extLst>
          </p:cNvPr>
          <p:cNvSpPr/>
          <p:nvPr/>
        </p:nvSpPr>
        <p:spPr>
          <a:xfrm>
            <a:off x="995243" y="1308116"/>
            <a:ext cx="474392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🧩 </a:t>
            </a:r>
            <a:r>
              <a:rPr lang="en-US" sz="2800" dirty="0">
                <a:solidFill>
                  <a:srgbClr val="3F6FF3"/>
                </a:solidFill>
                <a:latin typeface="Times New Roman" panose="02020603050405020304" pitchFamily="18" charset="0"/>
                <a:ea typeface="Outfit Medium" pitchFamily="34" charset="-122"/>
                <a:cs typeface="Times New Roman" panose="02020603050405020304" pitchFamily="18" charset="0"/>
              </a:rPr>
              <a:t>Business Problem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0">
            <a:extLst>
              <a:ext uri="{FF2B5EF4-FFF2-40B4-BE49-F238E27FC236}">
                <a16:creationId xmlns:a16="http://schemas.microsoft.com/office/drawing/2014/main" id="{B9BF3357-523B-C32C-D7EE-9F8368511855}"/>
              </a:ext>
            </a:extLst>
          </p:cNvPr>
          <p:cNvSpPr/>
          <p:nvPr/>
        </p:nvSpPr>
        <p:spPr>
          <a:xfrm>
            <a:off x="995243" y="4292309"/>
            <a:ext cx="474392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🧠 </a:t>
            </a:r>
            <a:r>
              <a:rPr lang="en-US" sz="2800" dirty="0">
                <a:solidFill>
                  <a:srgbClr val="3F6FF3"/>
                </a:solidFill>
                <a:latin typeface="Times New Roman" panose="02020603050405020304" pitchFamily="18" charset="0"/>
                <a:ea typeface="Outfit Medium" pitchFamily="34" charset="-122"/>
                <a:cs typeface="Times New Roman" panose="02020603050405020304" pitchFamily="18" charset="0"/>
              </a:rPr>
              <a:t>Analytical Approach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638CEB2-6CCC-4E11-38B3-B5D9FD584977}"/>
              </a:ext>
            </a:extLst>
          </p:cNvPr>
          <p:cNvSpPr txBox="1"/>
          <p:nvPr/>
        </p:nvSpPr>
        <p:spPr>
          <a:xfrm>
            <a:off x="1211044" y="1821241"/>
            <a:ext cx="5566274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Telecom companies face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customer churn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leading to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significant revenue loss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dirty="0"/>
              <a:t>Traditional reports explain </a:t>
            </a:r>
            <a:r>
              <a:rPr lang="en-US" i="1" dirty="0"/>
              <a:t>who churned</a:t>
            </a:r>
            <a:r>
              <a:rPr lang="en-US" dirty="0"/>
              <a:t>, but not </a:t>
            </a:r>
            <a:r>
              <a:rPr lang="en-US" i="1" dirty="0"/>
              <a:t>why customers churn</a:t>
            </a:r>
            <a:r>
              <a:rPr lang="en-US" dirty="0"/>
              <a:t>.</a:t>
            </a:r>
          </a:p>
          <a:p>
            <a:pPr marL="285750" indent="-28575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needs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churn signals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retain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high-value customers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8D74687-C634-F194-B604-775DD2DFEBE2}"/>
              </a:ext>
            </a:extLst>
          </p:cNvPr>
          <p:cNvSpPr txBox="1"/>
          <p:nvPr/>
        </p:nvSpPr>
        <p:spPr>
          <a:xfrm>
            <a:off x="1211044" y="4780040"/>
            <a:ext cx="5566274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&amp; feature engineering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(tenure groups, service count, value flags)</a:t>
            </a:r>
          </a:p>
          <a:p>
            <a:pPr marL="285750" indent="-28575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Sentiment analysis (NLP)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customer feedback to detect emotional signals</a:t>
            </a:r>
          </a:p>
          <a:p>
            <a:pPr marL="285750" indent="-28575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 behavioral + sentiment insights in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 dashboards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 on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churn risk, revenue impact, and retention opportunities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0">
            <a:extLst>
              <a:ext uri="{FF2B5EF4-FFF2-40B4-BE49-F238E27FC236}">
                <a16:creationId xmlns:a16="http://schemas.microsoft.com/office/drawing/2014/main" id="{07BBCB41-85D2-E406-5BA1-285C7E403D38}"/>
              </a:ext>
            </a:extLst>
          </p:cNvPr>
          <p:cNvSpPr/>
          <p:nvPr/>
        </p:nvSpPr>
        <p:spPr>
          <a:xfrm>
            <a:off x="7280625" y="4292309"/>
            <a:ext cx="474392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🛠 </a:t>
            </a:r>
            <a:r>
              <a:rPr lang="en-US" sz="2800" dirty="0">
                <a:solidFill>
                  <a:srgbClr val="3F6FF3"/>
                </a:solidFill>
                <a:latin typeface="Times New Roman" panose="02020603050405020304" pitchFamily="18" charset="0"/>
                <a:ea typeface="Outfit Medium" pitchFamily="34" charset="-122"/>
                <a:cs typeface="Times New Roman" panose="02020603050405020304" pitchFamily="18" charset="0"/>
              </a:rPr>
              <a:t>Tools &amp; Technologies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C8E25F6-2CFB-C268-FD2B-52559528A1FA}"/>
              </a:ext>
            </a:extLst>
          </p:cNvPr>
          <p:cNvSpPr/>
          <p:nvPr/>
        </p:nvSpPr>
        <p:spPr>
          <a:xfrm>
            <a:off x="12801600" y="7674264"/>
            <a:ext cx="1721224" cy="42624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75701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3658" y="545068"/>
            <a:ext cx="9332238" cy="619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4400" b="1" dirty="0">
                <a:solidFill>
                  <a:srgbClr val="3F6FF3"/>
                </a:solidFill>
                <a:latin typeface="Times New Roman" panose="02020603050405020304" pitchFamily="18" charset="0"/>
                <a:ea typeface="Outfit Medium" pitchFamily="34" charset="-122"/>
                <a:cs typeface="Times New Roman" panose="02020603050405020304" pitchFamily="18" charset="0"/>
              </a:rPr>
              <a:t>Executive Insights: Churn Impact Overview</a:t>
            </a:r>
            <a:endParaRPr lang="en-US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2269862" y="1401658"/>
            <a:ext cx="1876826" cy="654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150"/>
              </a:lnSpc>
              <a:buNone/>
            </a:pPr>
            <a:r>
              <a:rPr lang="en-US" sz="5150" b="1" dirty="0">
                <a:latin typeface="Times New Roman" panose="02020603050405020304" pitchFamily="18" charset="0"/>
                <a:ea typeface="Outfit Medium" pitchFamily="34" charset="-122"/>
                <a:cs typeface="Times New Roman" panose="02020603050405020304" pitchFamily="18" charset="0"/>
              </a:rPr>
              <a:t>26.5%</a:t>
            </a:r>
            <a:endParaRPr lang="en-US" sz="51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2148998" y="2045122"/>
            <a:ext cx="1997690" cy="3096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50" dirty="0">
                <a:latin typeface="Times New Roman" panose="02020603050405020304" pitchFamily="18" charset="0"/>
                <a:ea typeface="Outfit Medium" pitchFamily="34" charset="-122"/>
                <a:cs typeface="Times New Roman" panose="02020603050405020304" pitchFamily="18" charset="0"/>
              </a:rPr>
              <a:t>Overall Churn Rate</a:t>
            </a:r>
            <a:endParaRPr lang="en-US" sz="1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689946" y="2320610"/>
            <a:ext cx="3221537" cy="317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1550" dirty="0"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Significant portion of customer base at risk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280336" y="1391112"/>
            <a:ext cx="1876879" cy="654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150"/>
              </a:lnSpc>
              <a:buNone/>
            </a:pPr>
            <a:r>
              <a:rPr lang="en-US" sz="5150" b="1" dirty="0">
                <a:latin typeface="Times New Roman" panose="02020603050405020304" pitchFamily="18" charset="0"/>
                <a:ea typeface="Outfit Medium" pitchFamily="34" charset="-122"/>
                <a:cs typeface="Times New Roman" panose="02020603050405020304" pitchFamily="18" charset="0"/>
              </a:rPr>
              <a:t>42%</a:t>
            </a:r>
            <a:endParaRPr lang="en-US" sz="51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428289" y="2014679"/>
            <a:ext cx="1997690" cy="3096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50" dirty="0">
                <a:latin typeface="Times New Roman" panose="02020603050405020304" pitchFamily="18" charset="0"/>
                <a:ea typeface="Outfit Medium" pitchFamily="34" charset="-122"/>
                <a:cs typeface="Times New Roman" panose="02020603050405020304" pitchFamily="18" charset="0"/>
              </a:rPr>
              <a:t>Month-to-Month Risk</a:t>
            </a:r>
            <a:endParaRPr lang="en-US" sz="1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727415" y="2324361"/>
            <a:ext cx="3426023" cy="317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1550" dirty="0"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Highest churn among flexible contracts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496743" y="1391119"/>
            <a:ext cx="1876826" cy="654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150"/>
              </a:lnSpc>
              <a:buNone/>
            </a:pPr>
            <a:r>
              <a:rPr lang="en-US" sz="5150" b="1" dirty="0">
                <a:latin typeface="Times New Roman" panose="02020603050405020304" pitchFamily="18" charset="0"/>
                <a:ea typeface="Outfit Medium" pitchFamily="34" charset="-122"/>
                <a:cs typeface="Times New Roman" panose="02020603050405020304" pitchFamily="18" charset="0"/>
              </a:rPr>
              <a:t>89%</a:t>
            </a:r>
            <a:endParaRPr lang="en-US" sz="51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0352563" y="2014686"/>
            <a:ext cx="1997690" cy="3096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50" dirty="0">
                <a:latin typeface="Times New Roman" panose="02020603050405020304" pitchFamily="18" charset="0"/>
                <a:ea typeface="Outfit Medium" pitchFamily="34" charset="-122"/>
                <a:cs typeface="Times New Roman" panose="02020603050405020304" pitchFamily="18" charset="0"/>
              </a:rPr>
              <a:t>Two-Year Stability</a:t>
            </a:r>
            <a:endParaRPr lang="en-US" sz="1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617111" y="2316366"/>
            <a:ext cx="3425927" cy="317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1550" dirty="0"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Long-term contracts drive retention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68643" y="2953851"/>
            <a:ext cx="4839653" cy="371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800" dirty="0">
                <a:solidFill>
                  <a:srgbClr val="3F6FF3"/>
                </a:solidFill>
                <a:latin typeface="Times New Roman" panose="02020603050405020304" pitchFamily="18" charset="0"/>
                <a:ea typeface="Outfit Medium" pitchFamily="34" charset="-122"/>
                <a:cs typeface="Times New Roman" panose="02020603050405020304" pitchFamily="18" charset="0"/>
              </a:rPr>
              <a:t>Key Findings from Executive Analysis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68643" y="3492875"/>
            <a:ext cx="6280798" cy="709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ts val="2450"/>
              </a:lnSpc>
              <a:buFont typeface="Wingdings" panose="05000000000000000000" pitchFamily="2" charset="2"/>
              <a:buChar char="§"/>
            </a:pPr>
            <a:r>
              <a:rPr lang="en-US" dirty="0"/>
              <a:t>The overall churn rate is </a:t>
            </a:r>
            <a:r>
              <a:rPr lang="en-US" b="1" dirty="0"/>
              <a:t>26.5%</a:t>
            </a:r>
            <a:r>
              <a:rPr lang="en-US" dirty="0"/>
              <a:t>, indicating a clear risk to revenue stability. Contract type plays a key role in customer retention.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93658" y="4327243"/>
            <a:ext cx="6341843" cy="951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ts val="2450"/>
              </a:lnSpc>
              <a:buFont typeface="Wingdings" panose="05000000000000000000" pitchFamily="2" charset="2"/>
              <a:buChar char="§"/>
            </a:pPr>
            <a:r>
              <a:rPr lang="en-US" b="1" dirty="0"/>
              <a:t>Month-to-month customers churn the most</a:t>
            </a:r>
            <a:r>
              <a:rPr lang="en-US" dirty="0"/>
              <a:t>, creating higher revenue volatility, while </a:t>
            </a:r>
            <a:r>
              <a:rPr lang="en-US" b="1" dirty="0"/>
              <a:t>two-year contracts show strong customer loyalty</a:t>
            </a:r>
            <a:r>
              <a:rPr lang="en-US" dirty="0"/>
              <a:t> and stable revenue.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84892" y="5411279"/>
            <a:ext cx="6614055" cy="951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ts val="2450"/>
              </a:lnSpc>
              <a:buFont typeface="Wingdings" panose="05000000000000000000" pitchFamily="2" charset="2"/>
              <a:buChar char="§"/>
            </a:pPr>
            <a:r>
              <a:rPr lang="en-US" dirty="0"/>
              <a:t>Churn has a </a:t>
            </a:r>
            <a:r>
              <a:rPr lang="en-US" b="1" dirty="0"/>
              <a:t>high financial impact</a:t>
            </a:r>
            <a:r>
              <a:rPr lang="en-US" dirty="0"/>
              <a:t>, as customers who leave often contribute significant revenue, making targeted retention efforts essential.</a:t>
            </a:r>
          </a:p>
          <a:p>
            <a:pPr marL="285750" indent="-285750" algn="l">
              <a:lnSpc>
                <a:spcPts val="2450"/>
              </a:lnSpc>
              <a:buFont typeface="Wingdings" panose="05000000000000000000" pitchFamily="2" charset="2"/>
              <a:buChar char="§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5501" y="2669314"/>
            <a:ext cx="7465807" cy="5491238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F703D872-6CD6-06A8-7A29-5D7A7B7AA4BF}"/>
              </a:ext>
            </a:extLst>
          </p:cNvPr>
          <p:cNvSpPr txBox="1"/>
          <p:nvPr/>
        </p:nvSpPr>
        <p:spPr>
          <a:xfrm>
            <a:off x="668642" y="6607314"/>
            <a:ext cx="628079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Executive Takeaway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Improving contract strategy and targeting high-risk customers can significantly reduce churn and protect long-term revenue.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749" y="519946"/>
            <a:ext cx="11447740" cy="590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4400" b="1" dirty="0">
                <a:solidFill>
                  <a:srgbClr val="3F6FF3"/>
                </a:solidFill>
                <a:latin typeface="Times New Roman" panose="02020603050405020304" pitchFamily="18" charset="0"/>
                <a:ea typeface="Outfit Medium" pitchFamily="34" charset="-122"/>
                <a:cs typeface="Times New Roman" panose="02020603050405020304" pitchFamily="18" charset="0"/>
              </a:rPr>
              <a:t>Customer Segmentation: Identifying High-Risk Profiles</a:t>
            </a:r>
            <a:endParaRPr lang="en-US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61750" y="1211461"/>
            <a:ext cx="6212386" cy="1656930"/>
          </a:xfrm>
          <a:prstGeom prst="roundRect">
            <a:avLst>
              <a:gd name="adj" fmla="val 11839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B5C1E2"/>
            </a:solidFill>
            <a:prstDash val="solid"/>
          </a:ln>
          <a:effectLst>
            <a:outerShdw dist="16510" dir="2700000" algn="bl" rotWithShape="0">
              <a:srgbClr val="B5C1E2">
                <a:alpha val="10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84609" y="1234320"/>
            <a:ext cx="500430" cy="1604229"/>
          </a:xfrm>
          <a:prstGeom prst="roundRect">
            <a:avLst>
              <a:gd name="adj" fmla="val 18874"/>
            </a:avLst>
          </a:prstGeom>
          <a:solidFill>
            <a:srgbClr val="CFDBFC"/>
          </a:solidFill>
          <a:ln/>
          <a:effectLst>
            <a:outerShdw dist="16510" dir="2700000" algn="bl" rotWithShape="0">
              <a:srgbClr val="B5C1E2">
                <a:alpha val="10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833" y="1752957"/>
            <a:ext cx="125754" cy="3544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3200" b="1" dirty="0">
                <a:solidFill>
                  <a:schemeClr val="accent1"/>
                </a:solidFill>
                <a:latin typeface="Times New Roman" panose="02020603050405020304" pitchFamily="18" charset="0"/>
                <a:ea typeface="Outfit Medium" pitchFamily="34" charset="-122"/>
                <a:cs typeface="Times New Roman" panose="02020603050405020304" pitchFamily="18" charset="0"/>
              </a:rPr>
              <a:t>1</a:t>
            </a:r>
            <a:endParaRPr lang="en-US" sz="32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328751" y="1340345"/>
            <a:ext cx="1079891" cy="2953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400" dirty="0">
                <a:solidFill>
                  <a:schemeClr val="accent1"/>
                </a:solidFill>
                <a:latin typeface="Times New Roman" panose="02020603050405020304" pitchFamily="18" charset="0"/>
                <a:ea typeface="Outfit Medium" pitchFamily="34" charset="-122"/>
                <a:cs typeface="Times New Roman" panose="02020603050405020304" pitchFamily="18" charset="0"/>
              </a:rPr>
              <a:t>Early-Stage Customers</a:t>
            </a:r>
            <a:endParaRPr lang="en-US" sz="24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373244" y="1623478"/>
            <a:ext cx="539998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5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customers </a:t>
            </a:r>
            <a:r>
              <a:rPr lang="en-US" sz="1600" dirty="0"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in their first </a:t>
            </a:r>
            <a:r>
              <a:rPr lang="en-US" sz="1600" b="1" dirty="0"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0–6 months 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 the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highest churn risk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during the first few months. This early onboarding phase is critical and requires stronger engagement and support to build long-term loyalty.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61750" y="3020854"/>
            <a:ext cx="6212386" cy="1437442"/>
          </a:xfrm>
          <a:prstGeom prst="roundRect">
            <a:avLst>
              <a:gd name="adj" fmla="val 11839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B5C1E2"/>
            </a:solidFill>
            <a:prstDash val="solid"/>
          </a:ln>
          <a:effectLst>
            <a:outerShdw dist="16510" dir="2700000" algn="bl" rotWithShape="0">
              <a:srgbClr val="B5C1E2">
                <a:alpha val="10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84609" y="3043714"/>
            <a:ext cx="500430" cy="1391722"/>
          </a:xfrm>
          <a:prstGeom prst="roundRect">
            <a:avLst>
              <a:gd name="adj" fmla="val 18874"/>
            </a:avLst>
          </a:prstGeom>
          <a:solidFill>
            <a:srgbClr val="CFDBFC"/>
          </a:solidFill>
          <a:ln/>
          <a:effectLst>
            <a:outerShdw dist="16510" dir="2700000" algn="bl" rotWithShape="0">
              <a:srgbClr val="B5C1E2">
                <a:alpha val="10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41833" y="3562350"/>
            <a:ext cx="125754" cy="3544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3200" b="1" dirty="0">
                <a:solidFill>
                  <a:schemeClr val="accent1"/>
                </a:solidFill>
                <a:latin typeface="Times New Roman" panose="02020603050405020304" pitchFamily="18" charset="0"/>
                <a:ea typeface="Outfit Medium" pitchFamily="34" charset="-122"/>
                <a:cs typeface="Times New Roman" panose="02020603050405020304" pitchFamily="18" charset="0"/>
              </a:rPr>
              <a:t>2</a:t>
            </a:r>
            <a:endParaRPr lang="en-US" sz="32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344107" y="3172599"/>
            <a:ext cx="1084115" cy="2953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400" dirty="0">
                <a:solidFill>
                  <a:schemeClr val="accent1"/>
                </a:solidFill>
                <a:latin typeface="Times New Roman" panose="02020603050405020304" pitchFamily="18" charset="0"/>
                <a:ea typeface="Outfit Medium" pitchFamily="34" charset="-122"/>
                <a:cs typeface="Times New Roman" panose="02020603050405020304" pitchFamily="18" charset="0"/>
              </a:rPr>
              <a:t>Fiber Optic Subscribers</a:t>
            </a:r>
            <a:endParaRPr lang="en-US" sz="24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317995" y="3467993"/>
            <a:ext cx="537712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5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Despite being a premium service,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fiber optic customers experience higher churn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This suggests potential gaps in service expectations, pricing perception, or competitive alternatives.</a:t>
            </a:r>
          </a:p>
          <a:p>
            <a:pPr marL="0" indent="0" algn="l">
              <a:lnSpc>
                <a:spcPts val="2350"/>
              </a:lnSpc>
              <a:buNone/>
            </a:pP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61750" y="4647367"/>
            <a:ext cx="6212386" cy="1437442"/>
          </a:xfrm>
          <a:prstGeom prst="roundRect">
            <a:avLst>
              <a:gd name="adj" fmla="val 11839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B5C1E2"/>
            </a:solidFill>
            <a:prstDash val="solid"/>
          </a:ln>
          <a:effectLst>
            <a:outerShdw dist="16510" dir="2700000" algn="bl" rotWithShape="0">
              <a:srgbClr val="B5C1E2">
                <a:alpha val="10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84609" y="4670227"/>
            <a:ext cx="500430" cy="1391722"/>
          </a:xfrm>
          <a:prstGeom prst="roundRect">
            <a:avLst>
              <a:gd name="adj" fmla="val 18874"/>
            </a:avLst>
          </a:prstGeom>
          <a:solidFill>
            <a:srgbClr val="CFDBFC"/>
          </a:solidFill>
          <a:ln/>
          <a:effectLst>
            <a:outerShdw dist="16510" dir="2700000" algn="bl" rotWithShape="0">
              <a:srgbClr val="B5C1E2">
                <a:alpha val="10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41833" y="5188863"/>
            <a:ext cx="125754" cy="3544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3200" b="1" dirty="0">
                <a:solidFill>
                  <a:schemeClr val="accent1"/>
                </a:solidFill>
                <a:latin typeface="Times New Roman" panose="02020603050405020304" pitchFamily="18" charset="0"/>
                <a:ea typeface="Outfit Medium" pitchFamily="34" charset="-122"/>
                <a:cs typeface="Times New Roman" panose="02020603050405020304" pitchFamily="18" charset="0"/>
              </a:rPr>
              <a:t>3</a:t>
            </a:r>
            <a:endParaRPr lang="en-US" sz="32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340364" y="4773274"/>
            <a:ext cx="1056663" cy="2953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400" dirty="0">
                <a:solidFill>
                  <a:schemeClr val="accent1"/>
                </a:solidFill>
                <a:latin typeface="Times New Roman" panose="02020603050405020304" pitchFamily="18" charset="0"/>
                <a:ea typeface="Outfit Medium" pitchFamily="34" charset="-122"/>
                <a:cs typeface="Times New Roman" panose="02020603050405020304" pitchFamily="18" charset="0"/>
              </a:rPr>
              <a:t>Electronic Check Users</a:t>
            </a:r>
            <a:endParaRPr lang="en-US" sz="24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328751" y="5079626"/>
            <a:ext cx="537712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5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 using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electronic check payments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exhibit elevated churn risk. Payment friction or billing experience may contribute to dissatisfaction and eventual churn.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61750" y="6273879"/>
            <a:ext cx="6212386" cy="1437442"/>
          </a:xfrm>
          <a:prstGeom prst="roundRect">
            <a:avLst>
              <a:gd name="adj" fmla="val 11839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B5C1E2"/>
            </a:solidFill>
            <a:prstDash val="solid"/>
          </a:ln>
          <a:effectLst>
            <a:outerShdw dist="16510" dir="2700000" algn="bl" rotWithShape="0">
              <a:srgbClr val="B5C1E2">
                <a:alpha val="10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84609" y="6296739"/>
            <a:ext cx="500430" cy="1391722"/>
          </a:xfrm>
          <a:prstGeom prst="roundRect">
            <a:avLst>
              <a:gd name="adj" fmla="val 18874"/>
            </a:avLst>
          </a:prstGeom>
          <a:solidFill>
            <a:srgbClr val="CFDBFC"/>
          </a:solidFill>
          <a:ln/>
          <a:effectLst>
            <a:outerShdw dist="16510" dir="2700000" algn="bl" rotWithShape="0">
              <a:srgbClr val="B5C1E2">
                <a:alpha val="10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41833" y="6815376"/>
            <a:ext cx="125754" cy="3544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3200" b="1" dirty="0">
                <a:solidFill>
                  <a:schemeClr val="accent1"/>
                </a:solidFill>
                <a:latin typeface="Times New Roman" panose="02020603050405020304" pitchFamily="18" charset="0"/>
                <a:ea typeface="Outfit Medium" pitchFamily="34" charset="-122"/>
                <a:cs typeface="Times New Roman" panose="02020603050405020304" pitchFamily="18" charset="0"/>
              </a:rPr>
              <a:t>4</a:t>
            </a:r>
            <a:endParaRPr lang="en-US" sz="32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350284" y="6400023"/>
            <a:ext cx="1077938" cy="2953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400" dirty="0">
                <a:solidFill>
                  <a:schemeClr val="accent1"/>
                </a:solidFill>
                <a:latin typeface="Times New Roman" panose="02020603050405020304" pitchFamily="18" charset="0"/>
                <a:ea typeface="Outfit Medium" pitchFamily="34" charset="-122"/>
                <a:cs typeface="Times New Roman" panose="02020603050405020304" pitchFamily="18" charset="0"/>
              </a:rPr>
              <a:t>Senior Citizen Segment</a:t>
            </a:r>
            <a:endParaRPr lang="en-US" sz="24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373244" y="6690181"/>
            <a:ext cx="537712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5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Although a smaller customer group,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senior citizens show distinct churn patterns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This segment benefits from targeted retention strategies tailored to their specific needs.</a:t>
            </a:r>
          </a:p>
          <a:p>
            <a:pPr marL="0" indent="0" algn="l">
              <a:lnSpc>
                <a:spcPts val="2350"/>
              </a:lnSpc>
              <a:buNone/>
            </a:pP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CD0A405C-94F1-74DC-AB38-38B4737F8F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7092" y="1211462"/>
            <a:ext cx="7214517" cy="6499860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2E59D2CB-3A41-5016-8ECB-4068D6CC4076}"/>
              </a:ext>
            </a:extLst>
          </p:cNvPr>
          <p:cNvSpPr/>
          <p:nvPr/>
        </p:nvSpPr>
        <p:spPr>
          <a:xfrm>
            <a:off x="12823112" y="7799294"/>
            <a:ext cx="1601546" cy="32796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131" y="374094"/>
            <a:ext cx="7582376" cy="425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4400" b="1" dirty="0">
                <a:solidFill>
                  <a:srgbClr val="3F6FF3"/>
                </a:solidFill>
                <a:latin typeface="Times New Roman" panose="02020603050405020304" pitchFamily="18" charset="0"/>
                <a:ea typeface="Outfit Medium" pitchFamily="34" charset="-122"/>
                <a:cs typeface="Times New Roman" panose="02020603050405020304" pitchFamily="18" charset="0"/>
              </a:rPr>
              <a:t>Revenue Impact: Understanding Value Distribution</a:t>
            </a:r>
            <a:endParaRPr lang="en-US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130" y="1002506"/>
            <a:ext cx="7040371" cy="61011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42370" y="1095271"/>
            <a:ext cx="2113836" cy="255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2800" dirty="0">
                <a:solidFill>
                  <a:srgbClr val="3F6FF3"/>
                </a:solidFill>
                <a:latin typeface="Times New Roman" panose="02020603050405020304" pitchFamily="18" charset="0"/>
                <a:ea typeface="Outfit Medium" pitchFamily="34" charset="-122"/>
                <a:cs typeface="Times New Roman" panose="02020603050405020304" pitchFamily="18" charset="0"/>
              </a:rPr>
              <a:t>Strategic Value Insights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8621778" y="3617208"/>
            <a:ext cx="756102" cy="197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latin typeface="Times New Roman" panose="02020603050405020304" pitchFamily="18" charset="0"/>
                <a:ea typeface="Outfit Medium" pitchFamily="34" charset="-122"/>
                <a:cs typeface="Times New Roman" panose="02020603050405020304" pitchFamily="18" charset="0"/>
              </a:rPr>
              <a:t>68%</a:t>
            </a:r>
            <a:endParaRPr lang="en-US" sz="2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0108" y="3350912"/>
            <a:ext cx="1363219" cy="79557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322091" y="4330992"/>
            <a:ext cx="1053594" cy="123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400" b="1" i="1" dirty="0">
                <a:latin typeface="Times New Roman" panose="02020603050405020304" pitchFamily="18" charset="0"/>
                <a:ea typeface="Outfit Medium" pitchFamily="34" charset="-122"/>
                <a:cs typeface="Times New Roman" panose="02020603050405020304" pitchFamily="18" charset="0"/>
              </a:rPr>
              <a:t>Revenue from Loyal Customers</a:t>
            </a:r>
            <a:endParaRPr lang="en-US" sz="14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7721948" y="4559479"/>
            <a:ext cx="2008849" cy="425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Majority revenue contribution</a:t>
            </a:r>
          </a:p>
          <a:p>
            <a:pPr marL="0" indent="0" algn="ctr">
              <a:lnSpc>
                <a:spcPts val="17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 from stable base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10914175" y="3638722"/>
            <a:ext cx="756102" cy="197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latin typeface="Times New Roman" panose="02020603050405020304" pitchFamily="18" charset="0"/>
                <a:ea typeface="Outfit Medium" pitchFamily="34" charset="-122"/>
                <a:cs typeface="Times New Roman" panose="02020603050405020304" pitchFamily="18" charset="0"/>
              </a:rPr>
              <a:t>31%</a:t>
            </a:r>
            <a:endParaRPr lang="en-US" sz="2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33953" y="3374982"/>
            <a:ext cx="1363219" cy="79557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719149" y="4340461"/>
            <a:ext cx="945841" cy="123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400" b="1" i="1" dirty="0">
                <a:latin typeface="Times New Roman" panose="02020603050405020304" pitchFamily="18" charset="0"/>
                <a:ea typeface="Outfit Medium" pitchFamily="34" charset="-122"/>
                <a:cs typeface="Times New Roman" panose="02020603050405020304" pitchFamily="18" charset="0"/>
              </a:rPr>
              <a:t>High-Value Customer Share</a:t>
            </a:r>
            <a:endParaRPr lang="en-US" sz="14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9"/>
          <p:cNvSpPr/>
          <p:nvPr/>
        </p:nvSpPr>
        <p:spPr>
          <a:xfrm>
            <a:off x="10045059" y="4562813"/>
            <a:ext cx="2008849" cy="4269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Critical segment for</a:t>
            </a:r>
          </a:p>
          <a:p>
            <a:pPr marL="0" indent="0" algn="ctr">
              <a:lnSpc>
                <a:spcPts val="17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 revenue protection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0"/>
          <p:cNvSpPr/>
          <p:nvPr/>
        </p:nvSpPr>
        <p:spPr>
          <a:xfrm>
            <a:off x="13000207" y="3659452"/>
            <a:ext cx="756102" cy="197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latin typeface="Times New Roman" panose="02020603050405020304" pitchFamily="18" charset="0"/>
                <a:ea typeface="Outfit Medium" pitchFamily="34" charset="-122"/>
                <a:cs typeface="Times New Roman" panose="02020603050405020304" pitchFamily="18" charset="0"/>
              </a:rPr>
              <a:t>47%</a:t>
            </a:r>
            <a:endParaRPr lang="en-US" sz="2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615599" y="3374982"/>
            <a:ext cx="1417425" cy="795577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2931230" y="4330992"/>
            <a:ext cx="824477" cy="123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400" b="1" i="1" dirty="0">
                <a:latin typeface="Times New Roman" panose="02020603050405020304" pitchFamily="18" charset="0"/>
                <a:ea typeface="Outfit Medium" pitchFamily="34" charset="-122"/>
                <a:cs typeface="Times New Roman" panose="02020603050405020304" pitchFamily="18" charset="0"/>
              </a:rPr>
              <a:t>Revenue Loss from M2M</a:t>
            </a:r>
            <a:endParaRPr lang="en-US" sz="14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2"/>
          <p:cNvSpPr/>
          <p:nvPr/>
        </p:nvSpPr>
        <p:spPr>
          <a:xfrm>
            <a:off x="12339043" y="4586251"/>
            <a:ext cx="2008849" cy="126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Month-to-month churn impact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3"/>
          <p:cNvSpPr/>
          <p:nvPr/>
        </p:nvSpPr>
        <p:spPr>
          <a:xfrm>
            <a:off x="476130" y="7227094"/>
            <a:ext cx="14035935" cy="862514"/>
          </a:xfrm>
          <a:prstGeom prst="roundRect">
            <a:avLst>
              <a:gd name="adj" fmla="val 15392"/>
            </a:avLst>
          </a:prstGeom>
          <a:solidFill>
            <a:srgbClr val="B7C9FA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1185" y="7495280"/>
            <a:ext cx="407821" cy="32614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054060" y="7388121"/>
            <a:ext cx="13100209" cy="4352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Business Intelligence Highlight: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 with multiple services show lower churn rates, suggesting that bundling increases customer stickiness and reduces switching behavior.</a:t>
            </a:r>
          </a:p>
        </p:txBody>
      </p:sp>
      <p:sp>
        <p:nvSpPr>
          <p:cNvPr id="22" name="Rectangle 1">
            <a:extLst>
              <a:ext uri="{FF2B5EF4-FFF2-40B4-BE49-F238E27FC236}">
                <a16:creationId xmlns:a16="http://schemas.microsoft.com/office/drawing/2014/main" id="{040B998B-D0AE-7C16-6221-FF38A665CF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3067" y="1372593"/>
            <a:ext cx="6406447" cy="19697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High-value customers form a smaller share (~31%) of the customer base but contribute a disproportionately large portion of total revenue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making them critical for revenue protection.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Loyal customers are the backbone of stable revenue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with long-term relationships delivering predictable cash flow and higher lifetime value.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Month-to-month churn causes significant revenue loss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highlighting the financial risk of short-term contracts.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158C01D-25C3-5F75-0F31-B02E1B63C46D}"/>
              </a:ext>
            </a:extLst>
          </p:cNvPr>
          <p:cNvSpPr txBox="1"/>
          <p:nvPr/>
        </p:nvSpPr>
        <p:spPr>
          <a:xfrm>
            <a:off x="7542370" y="5000848"/>
            <a:ext cx="6243225" cy="2231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Revenue Takeaways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Retaining high-value and long-tenure customers has the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greatest impact on revenue stability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 using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services churn less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indicating strong cross-sell and bundling opportunities.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Revenue-focused retention strategies should prioritize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contract upgrades and service expansion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6512" y="395374"/>
            <a:ext cx="2005370" cy="357902"/>
          </a:xfrm>
          <a:prstGeom prst="roundRect">
            <a:avLst>
              <a:gd name="adj" fmla="val 38310"/>
            </a:avLst>
          </a:prstGeom>
          <a:solidFill>
            <a:srgbClr val="CFDBFC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0693" y="508883"/>
            <a:ext cx="152281" cy="15228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9055" y="452405"/>
            <a:ext cx="1548646" cy="243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0" dirty="0"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KEY DIFFERENTIATOR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666512" y="840119"/>
            <a:ext cx="9762053" cy="595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4400" b="1" dirty="0">
                <a:solidFill>
                  <a:srgbClr val="3F6FF3"/>
                </a:solidFill>
                <a:latin typeface="Times New Roman" panose="02020603050405020304" pitchFamily="18" charset="0"/>
                <a:ea typeface="Outfit Medium" pitchFamily="34" charset="-122"/>
                <a:cs typeface="Times New Roman" panose="02020603050405020304" pitchFamily="18" charset="0"/>
              </a:rPr>
              <a:t>Sentiment Analysis: The Early Warning System</a:t>
            </a:r>
            <a:endParaRPr lang="en-US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702426" y="1482336"/>
            <a:ext cx="7322777" cy="8541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feedback reveals early signs of dissatisfaction that often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appear before churn happens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By analyzing sentiment, we can identify at-risk customers and act proactively.</a:t>
            </a:r>
          </a:p>
          <a:p>
            <a:pPr marL="0" indent="0" algn="l">
              <a:lnSpc>
                <a:spcPts val="2350"/>
              </a:lnSpc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442" y="2565667"/>
            <a:ext cx="2205460" cy="76164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36043" y="3454448"/>
            <a:ext cx="2146859" cy="6078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00"/>
              </a:lnSpc>
            </a:pP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Negative Sentiment</a:t>
            </a:r>
          </a:p>
          <a:p>
            <a:pPr>
              <a:lnSpc>
                <a:spcPts val="2300"/>
              </a:lnSpc>
            </a:pP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High Churn Risk</a:t>
            </a:r>
          </a:p>
        </p:txBody>
      </p:sp>
      <p:sp>
        <p:nvSpPr>
          <p:cNvPr id="9" name="Text 5"/>
          <p:cNvSpPr/>
          <p:nvPr/>
        </p:nvSpPr>
        <p:spPr>
          <a:xfrm>
            <a:off x="765680" y="4175139"/>
            <a:ext cx="2278729" cy="1943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5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 expressing negative sentiment show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significantly higher churn rates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making sentiment a strong early warning signal.</a:t>
            </a:r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4409" y="2565667"/>
            <a:ext cx="2205460" cy="76164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288993" y="3461188"/>
            <a:ext cx="2115521" cy="8361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00"/>
              </a:lnSpc>
            </a:pP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 Charges +</a:t>
            </a:r>
          </a:p>
          <a:p>
            <a:pPr>
              <a:lnSpc>
                <a:spcPts val="2300"/>
              </a:lnSpc>
            </a:pP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Negative Sentiment </a:t>
            </a:r>
          </a:p>
          <a:p>
            <a:pPr>
              <a:lnSpc>
                <a:spcPts val="2300"/>
              </a:lnSpc>
            </a:pP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Critical Risk</a:t>
            </a:r>
            <a:endParaRPr lang="en-US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77120" y="2565667"/>
            <a:ext cx="2205460" cy="76164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413572" y="3454994"/>
            <a:ext cx="1985700" cy="597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00"/>
              </a:lnSpc>
            </a:pPr>
            <a:r>
              <a:rPr lang="en-IN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 </a:t>
            </a: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ea typeface="Outfit Medium" pitchFamily="34" charset="-122"/>
                <a:cs typeface="Times New Roman" panose="02020603050405020304" pitchFamily="18" charset="0"/>
              </a:rPr>
              <a:t>Feedback</a:t>
            </a:r>
          </a:p>
          <a:p>
            <a:pPr>
              <a:lnSpc>
                <a:spcPts val="2300"/>
              </a:lnSpc>
            </a:pP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ea typeface="Outfit Medium" pitchFamily="34" charset="-122"/>
                <a:cs typeface="Times New Roman" panose="02020603050405020304" pitchFamily="18" charset="0"/>
              </a:rPr>
              <a:t> Validation</a:t>
            </a:r>
            <a:endParaRPr lang="en-US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9"/>
          <p:cNvSpPr/>
          <p:nvPr/>
        </p:nvSpPr>
        <p:spPr>
          <a:xfrm>
            <a:off x="5413572" y="4175138"/>
            <a:ext cx="2282028" cy="1887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5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feedback clearly highlights service issues and dissatisfaction, validating the churn patterns seen in quantitative metrics.</a:t>
            </a:r>
          </a:p>
          <a:p>
            <a:pPr marL="0" indent="0" algn="l">
              <a:lnSpc>
                <a:spcPts val="2350"/>
              </a:lnSpc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0"/>
          <p:cNvSpPr/>
          <p:nvPr/>
        </p:nvSpPr>
        <p:spPr>
          <a:xfrm>
            <a:off x="825797" y="6315120"/>
            <a:ext cx="2856428" cy="356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800" dirty="0">
                <a:solidFill>
                  <a:srgbClr val="3F6FF3"/>
                </a:solidFill>
                <a:latin typeface="Times New Roman" panose="02020603050405020304" pitchFamily="18" charset="0"/>
                <a:ea typeface="Outfit Medium" pitchFamily="34" charset="-122"/>
                <a:cs typeface="Times New Roman" panose="02020603050405020304" pitchFamily="18" charset="0"/>
              </a:rPr>
              <a:t>Strategic Advantage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1"/>
          <p:cNvSpPr/>
          <p:nvPr/>
        </p:nvSpPr>
        <p:spPr>
          <a:xfrm>
            <a:off x="881518" y="6784927"/>
            <a:ext cx="6363057" cy="823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5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Sentiment analysis enables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</a:t>
            </a:r>
            <a:r>
              <a:rPr lang="en-US" b="1" dirty="0"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 warning mechanism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allowing businesses to address customer issues before churn occurs—shifting retention strategies from reactive to proactive.</a:t>
            </a:r>
          </a:p>
        </p:txBody>
      </p:sp>
      <p:sp>
        <p:nvSpPr>
          <p:cNvPr id="18" name="Shape 12"/>
          <p:cNvSpPr/>
          <p:nvPr/>
        </p:nvSpPr>
        <p:spPr>
          <a:xfrm>
            <a:off x="690324" y="6351446"/>
            <a:ext cx="45719" cy="1418239"/>
          </a:xfrm>
          <a:prstGeom prst="rect">
            <a:avLst/>
          </a:prstGeom>
          <a:solidFill>
            <a:srgbClr val="A2B9F9"/>
          </a:solidFill>
          <a:ln/>
        </p:spPr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FD609CC8-CE9C-25D3-251C-97760B528F6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04659" y="1482336"/>
            <a:ext cx="6795306" cy="6585903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CD40E33D-90F7-C9B8-7027-921F7A90D1D2}"/>
              </a:ext>
            </a:extLst>
          </p:cNvPr>
          <p:cNvSpPr txBox="1"/>
          <p:nvPr/>
        </p:nvSpPr>
        <p:spPr>
          <a:xfrm>
            <a:off x="3298051" y="4365868"/>
            <a:ext cx="186187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unhappy customers are also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high-paying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increasing the financial impact if they churn.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7196" y="710872"/>
            <a:ext cx="7692747" cy="3813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4400" b="1" dirty="0">
                <a:solidFill>
                  <a:srgbClr val="3F6FF3"/>
                </a:solidFill>
                <a:latin typeface="Times New Roman" panose="02020603050405020304" pitchFamily="18" charset="0"/>
                <a:ea typeface="Outfit Medium" pitchFamily="34" charset="-122"/>
                <a:cs typeface="Times New Roman" panose="02020603050405020304" pitchFamily="18" charset="0"/>
              </a:rPr>
              <a:t>Business Recommendations: Strategic Action Framework</a:t>
            </a:r>
            <a:endParaRPr lang="en-US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2968372" y="1402396"/>
            <a:ext cx="8693655" cy="454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600"/>
              </a:spcBef>
              <a:buNone/>
            </a:pPr>
            <a:r>
              <a:rPr lang="en-US" dirty="0"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Based on comprehensive data analysis and sentiment insights, we propose a focused retention </a:t>
            </a:r>
          </a:p>
          <a:p>
            <a:pPr marL="0" indent="0" algn="l">
              <a:lnSpc>
                <a:spcPts val="1500"/>
              </a:lnSpc>
              <a:spcBef>
                <a:spcPts val="600"/>
              </a:spcBef>
              <a:buNone/>
            </a:pPr>
            <a:r>
              <a:rPr lang="en-US" dirty="0"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strategy addressing the most critical churn drivers and value protection opportunities.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27196" y="2228252"/>
            <a:ext cx="6609491" cy="2003781"/>
          </a:xfrm>
          <a:prstGeom prst="roundRect">
            <a:avLst>
              <a:gd name="adj" fmla="val 7246"/>
            </a:avLst>
          </a:prstGeom>
          <a:solidFill>
            <a:srgbClr val="FFFFFF">
              <a:alpha val="95000"/>
            </a:srgbClr>
          </a:solidFill>
          <a:ln w="15240">
            <a:solidFill>
              <a:srgbClr val="B5C1E2"/>
            </a:solidFill>
            <a:prstDash val="solid"/>
          </a:ln>
          <a:effectLst>
            <a:outerShdw dist="11430" dir="2700000" algn="bl" rotWithShape="0">
              <a:srgbClr val="B5C1E2">
                <a:alpha val="10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42436" y="2228251"/>
            <a:ext cx="549116" cy="2003781"/>
          </a:xfrm>
          <a:prstGeom prst="roundRect">
            <a:avLst>
              <a:gd name="adj" fmla="val 18758"/>
            </a:avLst>
          </a:prstGeom>
          <a:solidFill>
            <a:srgbClr val="CFDBFC"/>
          </a:solidFill>
          <a:ln/>
          <a:effectLst>
            <a:outerShdw dist="11430" dir="2700000" algn="bl" rotWithShape="0">
              <a:srgbClr val="B5C1E2">
                <a:alpha val="10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1145" y="3213756"/>
            <a:ext cx="182999" cy="3035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3600" b="1" dirty="0">
                <a:solidFill>
                  <a:schemeClr val="accent1"/>
                </a:solidFill>
                <a:latin typeface="Times New Roman" panose="02020603050405020304" pitchFamily="18" charset="0"/>
                <a:ea typeface="Outfit Medium" pitchFamily="34" charset="-122"/>
                <a:cs typeface="Times New Roman" panose="02020603050405020304" pitchFamily="18" charset="0"/>
              </a:rPr>
              <a:t>1</a:t>
            </a:r>
            <a:endParaRPr lang="en-US" sz="36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41056" y="2342382"/>
            <a:ext cx="6991773" cy="4522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00"/>
              </a:lnSpc>
              <a:spcBef>
                <a:spcPts val="600"/>
              </a:spcBef>
            </a:pPr>
            <a:r>
              <a:rPr lang="en-US" sz="2000" dirty="0">
                <a:solidFill>
                  <a:schemeClr val="accent1"/>
                </a:solidFill>
                <a:latin typeface="Times New Roman" panose="02020603050405020304" pitchFamily="18" charset="0"/>
                <a:ea typeface="Outfit Medium" pitchFamily="34" charset="-122"/>
                <a:cs typeface="Times New Roman" panose="02020603050405020304" pitchFamily="18" charset="0"/>
              </a:rPr>
              <a:t>Enhanced Onboarding </a:t>
            </a:r>
            <a:r>
              <a:rPr lang="en-US" sz="2000" dirty="0" err="1">
                <a:solidFill>
                  <a:schemeClr val="accent1"/>
                </a:solidFill>
                <a:latin typeface="Times New Roman" panose="02020603050405020304" pitchFamily="18" charset="0"/>
                <a:ea typeface="Outfit Medium" pitchFamily="34" charset="-122"/>
                <a:cs typeface="Times New Roman" panose="02020603050405020304" pitchFamily="18" charset="0"/>
              </a:rPr>
              <a:t>Programme</a:t>
            </a:r>
            <a:r>
              <a:rPr lang="en-US" sz="2000" dirty="0">
                <a:solidFill>
                  <a:schemeClr val="accent1"/>
                </a:solidFill>
                <a:latin typeface="Times New Roman" panose="02020603050405020304" pitchFamily="18" charset="0"/>
                <a:ea typeface="Outfit Medium" pitchFamily="34" charset="-122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ts val="1800"/>
              </a:lnSpc>
              <a:spcBef>
                <a:spcPts val="600"/>
              </a:spcBef>
            </a:pPr>
            <a:r>
              <a:rPr lang="en-US" sz="2000" dirty="0">
                <a:solidFill>
                  <a:schemeClr val="accent1"/>
                </a:solidFill>
                <a:latin typeface="Times New Roman" panose="02020603050405020304" pitchFamily="18" charset="0"/>
                <a:ea typeface="Outfit Medium" pitchFamily="34" charset="-122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6 months (highest churn risk)</a:t>
            </a:r>
          </a:p>
        </p:txBody>
      </p:sp>
      <p:sp>
        <p:nvSpPr>
          <p:cNvPr id="12" name="Shape 10"/>
          <p:cNvSpPr/>
          <p:nvPr/>
        </p:nvSpPr>
        <p:spPr>
          <a:xfrm>
            <a:off x="7203916" y="2240834"/>
            <a:ext cx="6984048" cy="1958102"/>
          </a:xfrm>
          <a:prstGeom prst="roundRect">
            <a:avLst>
              <a:gd name="adj" fmla="val 7246"/>
            </a:avLst>
          </a:prstGeom>
          <a:solidFill>
            <a:srgbClr val="FFFFFF">
              <a:alpha val="95000"/>
            </a:srgbClr>
          </a:solidFill>
          <a:ln w="15240">
            <a:solidFill>
              <a:srgbClr val="B5C1E2"/>
            </a:solidFill>
            <a:prstDash val="solid"/>
          </a:ln>
          <a:effectLst>
            <a:outerShdw dist="11430" dir="2700000" algn="bl" rotWithShape="0">
              <a:srgbClr val="B5C1E2">
                <a:alpha val="10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178516" y="2228252"/>
            <a:ext cx="549116" cy="1970684"/>
          </a:xfrm>
          <a:prstGeom prst="roundRect">
            <a:avLst>
              <a:gd name="adj" fmla="val 18758"/>
            </a:avLst>
          </a:prstGeom>
          <a:solidFill>
            <a:srgbClr val="CFDBFC"/>
          </a:solidFill>
          <a:ln/>
          <a:effectLst>
            <a:outerShdw dist="11430" dir="2700000" algn="bl" rotWithShape="0">
              <a:srgbClr val="B5C1E2">
                <a:alpha val="10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67865" y="3341685"/>
            <a:ext cx="182999" cy="228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3600" b="1" dirty="0">
                <a:solidFill>
                  <a:schemeClr val="accent1"/>
                </a:solidFill>
                <a:latin typeface="Times New Roman" panose="02020603050405020304" pitchFamily="18" charset="0"/>
                <a:ea typeface="Outfit Medium" pitchFamily="34" charset="-122"/>
                <a:cs typeface="Times New Roman" panose="02020603050405020304" pitchFamily="18" charset="0"/>
              </a:rPr>
              <a:t>2</a:t>
            </a:r>
            <a:endParaRPr lang="en-US" sz="36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817777" y="2385442"/>
            <a:ext cx="5672259" cy="526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00"/>
              </a:lnSpc>
              <a:spcBef>
                <a:spcPts val="600"/>
              </a:spcBef>
            </a:pPr>
            <a:r>
              <a:rPr lang="en-US" sz="2000" dirty="0">
                <a:solidFill>
                  <a:schemeClr val="accent1"/>
                </a:solidFill>
                <a:latin typeface="Times New Roman" panose="02020603050405020304" pitchFamily="18" charset="0"/>
                <a:ea typeface="Outfit Medium" pitchFamily="34" charset="-122"/>
                <a:cs typeface="Times New Roman" panose="02020603050405020304" pitchFamily="18" charset="0"/>
              </a:rPr>
              <a:t>Contract Migration Strategy </a:t>
            </a:r>
          </a:p>
          <a:p>
            <a:pPr>
              <a:lnSpc>
                <a:spcPts val="1800"/>
              </a:lnSpc>
              <a:spcBef>
                <a:spcPts val="600"/>
              </a:spcBef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Month-to-month customers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27195" y="5012367"/>
            <a:ext cx="6609491" cy="1875117"/>
          </a:xfrm>
          <a:prstGeom prst="roundRect">
            <a:avLst>
              <a:gd name="adj" fmla="val 7246"/>
            </a:avLst>
          </a:prstGeom>
          <a:solidFill>
            <a:srgbClr val="FFFFFF">
              <a:alpha val="95000"/>
            </a:srgbClr>
          </a:solidFill>
          <a:ln w="15240">
            <a:solidFill>
              <a:srgbClr val="B5C1E2"/>
            </a:solidFill>
            <a:prstDash val="solid"/>
          </a:ln>
          <a:effectLst>
            <a:outerShdw dist="11430" dir="2700000" algn="bl" rotWithShape="0">
              <a:srgbClr val="B5C1E2">
                <a:alpha val="10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42436" y="5012367"/>
            <a:ext cx="549116" cy="1859877"/>
          </a:xfrm>
          <a:prstGeom prst="roundRect">
            <a:avLst>
              <a:gd name="adj" fmla="val 18758"/>
            </a:avLst>
          </a:prstGeom>
          <a:solidFill>
            <a:srgbClr val="CFDBFC"/>
          </a:solidFill>
          <a:ln/>
          <a:effectLst>
            <a:outerShdw dist="11430" dir="2700000" algn="bl" rotWithShape="0">
              <a:srgbClr val="B5C1E2">
                <a:alpha val="10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91145" y="6014994"/>
            <a:ext cx="182999" cy="228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3600" b="1" dirty="0">
                <a:solidFill>
                  <a:schemeClr val="accent1"/>
                </a:solidFill>
                <a:latin typeface="Times New Roman" panose="02020603050405020304" pitchFamily="18" charset="0"/>
                <a:ea typeface="Outfit Medium" pitchFamily="34" charset="-122"/>
                <a:cs typeface="Times New Roman" panose="02020603050405020304" pitchFamily="18" charset="0"/>
              </a:rPr>
              <a:t>3</a:t>
            </a:r>
            <a:endParaRPr lang="en-US" sz="36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031335" y="5102161"/>
            <a:ext cx="3835743" cy="529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00"/>
              </a:lnSpc>
              <a:spcBef>
                <a:spcPts val="600"/>
              </a:spcBef>
            </a:pPr>
            <a:r>
              <a:rPr lang="en-US" sz="2000" dirty="0">
                <a:solidFill>
                  <a:schemeClr val="accent1"/>
                </a:solidFill>
                <a:latin typeface="Times New Roman" panose="02020603050405020304" pitchFamily="18" charset="0"/>
                <a:ea typeface="Outfit Medium" pitchFamily="34" charset="-122"/>
                <a:cs typeface="Times New Roman" panose="02020603050405020304" pitchFamily="18" charset="0"/>
              </a:rPr>
              <a:t>Sentiment-Driven Interventions </a:t>
            </a:r>
          </a:p>
          <a:p>
            <a:pPr>
              <a:lnSpc>
                <a:spcPts val="1800"/>
              </a:lnSpc>
              <a:spcBef>
                <a:spcPts val="600"/>
              </a:spcBef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 showing negative sentiment</a:t>
            </a:r>
          </a:p>
        </p:txBody>
      </p:sp>
      <p:sp>
        <p:nvSpPr>
          <p:cNvPr id="28" name="Shape 26"/>
          <p:cNvSpPr/>
          <p:nvPr/>
        </p:nvSpPr>
        <p:spPr>
          <a:xfrm>
            <a:off x="7204803" y="4952242"/>
            <a:ext cx="6983161" cy="1958102"/>
          </a:xfrm>
          <a:prstGeom prst="roundRect">
            <a:avLst>
              <a:gd name="adj" fmla="val 7246"/>
            </a:avLst>
          </a:prstGeom>
          <a:solidFill>
            <a:srgbClr val="FFFFFF">
              <a:alpha val="95000"/>
            </a:srgbClr>
          </a:solidFill>
          <a:ln w="15240">
            <a:solidFill>
              <a:srgbClr val="B5C1E2"/>
            </a:solidFill>
            <a:prstDash val="solid"/>
          </a:ln>
          <a:effectLst>
            <a:outerShdw dist="11430" dir="2700000" algn="bl" rotWithShape="0">
              <a:srgbClr val="B5C1E2">
                <a:alpha val="10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204803" y="4952242"/>
            <a:ext cx="522829" cy="1942743"/>
          </a:xfrm>
          <a:prstGeom prst="roundRect">
            <a:avLst>
              <a:gd name="adj" fmla="val 18758"/>
            </a:avLst>
          </a:prstGeom>
          <a:solidFill>
            <a:srgbClr val="CFDBFC"/>
          </a:solidFill>
          <a:ln/>
          <a:effectLst>
            <a:outerShdw dist="11430" dir="2700000" algn="bl" rotWithShape="0">
              <a:srgbClr val="B5C1E2">
                <a:alpha val="10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388185" y="6037735"/>
            <a:ext cx="182999" cy="228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3600" b="1" dirty="0">
                <a:solidFill>
                  <a:schemeClr val="accent1"/>
                </a:solidFill>
                <a:latin typeface="Times New Roman" panose="02020603050405020304" pitchFamily="18" charset="0"/>
                <a:ea typeface="Outfit Medium" pitchFamily="34" charset="-122"/>
                <a:cs typeface="Times New Roman" panose="02020603050405020304" pitchFamily="18" charset="0"/>
              </a:rPr>
              <a:t>4</a:t>
            </a:r>
            <a:endParaRPr lang="en-US" sz="36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7838096" y="5074419"/>
            <a:ext cx="3500463" cy="469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00"/>
              </a:lnSpc>
              <a:spcBef>
                <a:spcPts val="600"/>
              </a:spcBef>
            </a:pPr>
            <a:r>
              <a:rPr lang="en-US" sz="2000" dirty="0">
                <a:solidFill>
                  <a:schemeClr val="accent1"/>
                </a:solidFill>
                <a:latin typeface="Times New Roman" panose="02020603050405020304" pitchFamily="18" charset="0"/>
                <a:ea typeface="Outfit Medium" pitchFamily="34" charset="-122"/>
                <a:cs typeface="Times New Roman" panose="02020603050405020304" pitchFamily="18" charset="0"/>
              </a:rPr>
              <a:t>High-Value Customer Focus</a:t>
            </a:r>
          </a:p>
          <a:p>
            <a:pPr>
              <a:lnSpc>
                <a:spcPts val="1800"/>
              </a:lnSpc>
              <a:spcBef>
                <a:spcPts val="600"/>
              </a:spcBef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revenue-contributing customers (~31%)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EE1B42E-2A2D-A5EE-C573-914BDB1F3A3C}"/>
              </a:ext>
            </a:extLst>
          </p:cNvPr>
          <p:cNvSpPr txBox="1"/>
          <p:nvPr/>
        </p:nvSpPr>
        <p:spPr>
          <a:xfrm>
            <a:off x="1203767" y="2853889"/>
            <a:ext cx="482696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Structured onboarding for new customers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Proactive check-ins during early tenure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Educational guidance to improve service usage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9E7E197-4895-4DCB-8474-9F5C899015E5}"/>
              </a:ext>
            </a:extLst>
          </p:cNvPr>
          <p:cNvSpPr txBox="1"/>
          <p:nvPr/>
        </p:nvSpPr>
        <p:spPr>
          <a:xfrm>
            <a:off x="930592" y="3767496"/>
            <a:ext cx="61060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📌 </a:t>
            </a:r>
            <a:r>
              <a:rPr lang="en-US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Goal:</a:t>
            </a:r>
            <a:r>
              <a:rPr lang="en-U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early-stage churn and build long-term loyalty.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28233CA-3653-61DE-0538-F2FB4D2184EF}"/>
              </a:ext>
            </a:extLst>
          </p:cNvPr>
          <p:cNvSpPr txBox="1"/>
          <p:nvPr/>
        </p:nvSpPr>
        <p:spPr>
          <a:xfrm>
            <a:off x="7978177" y="2872936"/>
            <a:ext cx="572163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Incentives to move customers to yearly / two-year plans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Value-based discounts for long-term commitments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Simplified upgrade options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A1C1270-558F-3DAE-5A61-662630FB4190}"/>
              </a:ext>
            </a:extLst>
          </p:cNvPr>
          <p:cNvSpPr txBox="1"/>
          <p:nvPr/>
        </p:nvSpPr>
        <p:spPr>
          <a:xfrm>
            <a:off x="7707312" y="3767059"/>
            <a:ext cx="56990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📌 </a:t>
            </a:r>
            <a:r>
              <a:rPr lang="en-US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Goal:</a:t>
            </a:r>
            <a:r>
              <a:rPr lang="en-U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retention and stabilize revenue streams.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20250B6-B04E-FFAE-E692-C49C59B13E44}"/>
              </a:ext>
            </a:extLst>
          </p:cNvPr>
          <p:cNvSpPr txBox="1"/>
          <p:nvPr/>
        </p:nvSpPr>
        <p:spPr>
          <a:xfrm>
            <a:off x="1183365" y="5607378"/>
            <a:ext cx="459459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sentiment from customer feedback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alerts for dissatisfaction signals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support for at-risk customers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86457C4-9E25-127A-7F78-60CBB5035DDF}"/>
              </a:ext>
            </a:extLst>
          </p:cNvPr>
          <p:cNvSpPr txBox="1"/>
          <p:nvPr/>
        </p:nvSpPr>
        <p:spPr>
          <a:xfrm>
            <a:off x="956432" y="6502912"/>
            <a:ext cx="5647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📌 </a:t>
            </a:r>
            <a:r>
              <a:rPr lang="en-US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Goal:</a:t>
            </a:r>
            <a:r>
              <a:rPr lang="en-U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 churn before customers decide to leave.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842F8F0-7D04-4525-8F38-38F86531B0CE}"/>
              </a:ext>
            </a:extLst>
          </p:cNvPr>
          <p:cNvSpPr txBox="1"/>
          <p:nvPr/>
        </p:nvSpPr>
        <p:spPr>
          <a:xfrm>
            <a:off x="8000807" y="5621360"/>
            <a:ext cx="419217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Dedicated support and faster resolution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Loyalty benefits for premium customers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Proactive relationship management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95DFCD9-271D-3500-2E4E-7562DFBB589A}"/>
              </a:ext>
            </a:extLst>
          </p:cNvPr>
          <p:cNvSpPr txBox="1"/>
          <p:nvPr/>
        </p:nvSpPr>
        <p:spPr>
          <a:xfrm>
            <a:off x="7828375" y="6505439"/>
            <a:ext cx="64844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📌 </a:t>
            </a:r>
            <a:r>
              <a:rPr lang="en-US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Goal:</a:t>
            </a:r>
            <a:r>
              <a:rPr lang="en-U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Protect high-revenue customers and reduce financial loss.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26E06D0-6465-6126-EFB4-ADE21DA23581}"/>
              </a:ext>
            </a:extLst>
          </p:cNvPr>
          <p:cNvSpPr/>
          <p:nvPr/>
        </p:nvSpPr>
        <p:spPr>
          <a:xfrm>
            <a:off x="12785408" y="7758850"/>
            <a:ext cx="1715900" cy="362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0664" y="0"/>
            <a:ext cx="5959736" cy="823376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8784" y="588288"/>
            <a:ext cx="7646432" cy="1337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0"/>
              </a:lnSpc>
              <a:buNone/>
            </a:pPr>
            <a:r>
              <a:rPr lang="en-US" sz="8400" b="1" dirty="0">
                <a:solidFill>
                  <a:srgbClr val="3F6FF3"/>
                </a:solidFill>
                <a:latin typeface="Times New Roman" panose="02020603050405020304" pitchFamily="18" charset="0"/>
                <a:ea typeface="Outfit Medium" pitchFamily="34" charset="-122"/>
                <a:cs typeface="Times New Roman" panose="02020603050405020304" pitchFamily="18" charset="0"/>
              </a:rPr>
              <a:t>Thank You</a:t>
            </a:r>
            <a:endParaRPr lang="en-US" sz="8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748784" y="2246352"/>
            <a:ext cx="7646432" cy="1069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3350" dirty="0">
                <a:solidFill>
                  <a:srgbClr val="3F6FF3"/>
                </a:solidFill>
                <a:latin typeface="Times New Roman" panose="02020603050405020304" pitchFamily="18" charset="0"/>
                <a:ea typeface="Outfit Medium" pitchFamily="34" charset="-122"/>
                <a:cs typeface="Times New Roman" panose="02020603050405020304" pitchFamily="18" charset="0"/>
              </a:rPr>
              <a:t>Driving Customer Retention Through Data Intelligence</a:t>
            </a:r>
            <a:endParaRPr lang="en-US" sz="3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748784" y="3850719"/>
            <a:ext cx="2674382" cy="334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3F6FF3"/>
                </a:solidFill>
                <a:latin typeface="Times New Roman" panose="02020603050405020304" pitchFamily="18" charset="0"/>
                <a:ea typeface="Outfit Medium" pitchFamily="34" charset="-122"/>
                <a:cs typeface="Times New Roman" panose="02020603050405020304" pitchFamily="18" charset="0"/>
              </a:rPr>
              <a:t>Project Contact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748784" y="4398764"/>
            <a:ext cx="3562231" cy="1369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b="1" dirty="0"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Ayesha Banu</a:t>
            </a:r>
          </a:p>
          <a:p>
            <a:pPr>
              <a:lnSpc>
                <a:spcPts val="2650"/>
              </a:lnSpc>
            </a:pPr>
            <a:r>
              <a:rPr lang="en-US" dirty="0"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MSc. Computer Science</a:t>
            </a:r>
          </a:p>
          <a:p>
            <a:pPr>
              <a:lnSpc>
                <a:spcPts val="2650"/>
              </a:lnSpc>
            </a:pPr>
            <a:r>
              <a:rPr lang="en-US" sz="1600" dirty="0"/>
              <a:t>Telecommunications Analytics | Power BI | ML | NLP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4840605" y="3850719"/>
            <a:ext cx="2674382" cy="334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3F6FF3"/>
                </a:solidFill>
                <a:latin typeface="Times New Roman" panose="02020603050405020304" pitchFamily="18" charset="0"/>
                <a:ea typeface="Outfit Medium" pitchFamily="34" charset="-122"/>
                <a:cs typeface="Times New Roman" panose="02020603050405020304" pitchFamily="18" charset="0"/>
              </a:rPr>
              <a:t>Key Takeaway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4840605" y="4398764"/>
            <a:ext cx="3754755" cy="21526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650"/>
              </a:lnSpc>
            </a:pPr>
            <a:r>
              <a:rPr lang="en-US" dirty="0"/>
              <a:t>Combining </a:t>
            </a:r>
            <a:r>
              <a:rPr lang="en-US" b="1" dirty="0"/>
              <a:t>sentiment analysis</a:t>
            </a:r>
            <a:r>
              <a:rPr lang="en-US" dirty="0"/>
              <a:t> with </a:t>
            </a:r>
            <a:r>
              <a:rPr lang="en-US" b="1" dirty="0"/>
              <a:t>customer behavior data</a:t>
            </a:r>
            <a:r>
              <a:rPr lang="en-US" dirty="0"/>
              <a:t> enables early churn detection and supports </a:t>
            </a:r>
            <a:r>
              <a:rPr lang="en-US" b="1" dirty="0"/>
              <a:t>proactive retention strategies</a:t>
            </a:r>
            <a:r>
              <a:rPr lang="en-US" dirty="0"/>
              <a:t>, helping protect revenue and strengthen long-term customer relationships.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748784" y="6980619"/>
            <a:ext cx="2306241" cy="417433"/>
          </a:xfrm>
          <a:prstGeom prst="roundRect">
            <a:avLst>
              <a:gd name="adj" fmla="val 36903"/>
            </a:avLst>
          </a:prstGeom>
          <a:noFill/>
          <a:ln w="7620">
            <a:solidFill>
              <a:srgbClr val="A2B9F9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4753" y="7103730"/>
            <a:ext cx="171093" cy="17109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41333" y="7052414"/>
            <a:ext cx="1777722" cy="273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00" dirty="0">
                <a:solidFill>
                  <a:schemeClr val="accent1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QUESTIONS WELCOME</a:t>
            </a:r>
            <a:endParaRPr lang="en-US" sz="13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3161943" y="6988239"/>
            <a:ext cx="2326005" cy="402193"/>
          </a:xfrm>
          <a:prstGeom prst="roundRect">
            <a:avLst>
              <a:gd name="adj" fmla="val 38301"/>
            </a:avLst>
          </a:prstGeom>
          <a:solidFill>
            <a:srgbClr val="CFDBFC"/>
          </a:solidFill>
          <a:ln/>
        </p:spPr>
        <p:txBody>
          <a:bodyPr/>
          <a:lstStyle/>
          <a:p>
            <a:endParaRPr lang="en-IN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311604" y="7103730"/>
            <a:ext cx="171093" cy="17109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546872" y="7052414"/>
            <a:ext cx="1812727" cy="273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00" dirty="0"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CONTACT FOR DETAILS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457</TotalTime>
  <Words>1017</Words>
  <Application>Microsoft Office PowerPoint</Application>
  <PresentationFormat>Custom</PresentationFormat>
  <Paragraphs>142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Times New Roman</vt:lpstr>
      <vt:lpstr>Arial</vt:lpstr>
      <vt:lpstr>Wingdings</vt:lpstr>
      <vt:lpstr>Imprint MT Shadow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Ayesha Banu</cp:lastModifiedBy>
  <cp:revision>15</cp:revision>
  <dcterms:created xsi:type="dcterms:W3CDTF">2026-01-05T11:43:44Z</dcterms:created>
  <dcterms:modified xsi:type="dcterms:W3CDTF">2026-01-06T10:51:32Z</dcterms:modified>
</cp:coreProperties>
</file>