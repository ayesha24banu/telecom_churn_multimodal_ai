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0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yesha24banu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ayesha-banu-cs/" TargetMode="External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0792"/>
            <a:ext cx="7563564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📡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Multimodal AI for Telecom Customer Churn &amp; Sentiment Analysis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02326" y="2276308"/>
            <a:ext cx="7563564" cy="75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Production-ready ML, DL, and NLP pipeline combining tabular machine learning for churn prediction with deep learning for sentiment analysis. This end-to-end system delivers actionable insights through a deployable Streamlit application.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0218" y="3284136"/>
            <a:ext cx="3702725" cy="1178362"/>
          </a:xfrm>
          <a:prstGeom prst="roundRect">
            <a:avLst>
              <a:gd name="adj" fmla="val 56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49229" y="3449752"/>
            <a:ext cx="2384584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Predict Customer Churn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5834" y="3791342"/>
            <a:ext cx="3371493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Identify at-risk customers early using advanced ML algorithms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50938" y="3284136"/>
            <a:ext cx="3702844" cy="1178362"/>
          </a:xfrm>
          <a:prstGeom prst="roundRect">
            <a:avLst>
              <a:gd name="adj" fmla="val 563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56478" y="3449752"/>
            <a:ext cx="269164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Understand Churn Reasons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16554" y="3791342"/>
            <a:ext cx="3371612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Uncover why customers are leaving through sentiment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90218" y="4620494"/>
            <a:ext cx="7563564" cy="925592"/>
          </a:xfrm>
          <a:prstGeom prst="roundRect">
            <a:avLst>
              <a:gd name="adj" fmla="val 717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29570" y="4786110"/>
            <a:ext cx="268474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Provide Actionable Insights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55834" y="5127700"/>
            <a:ext cx="723233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Suggest retention strategies proactively based on AI predictions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0218" y="5802768"/>
            <a:ext cx="7563564" cy="27265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90218" y="6007691"/>
            <a:ext cx="7563564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By:</a:t>
            </a:r>
            <a:r>
              <a:rPr lang="en-US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Ayesha Banu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0218" y="6438221"/>
            <a:ext cx="7563564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M.Sc. Gold Medalist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0218" y="6868751"/>
            <a:ext cx="7563564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Open to roles in Data Science / Data Analyst / ML Engineering / AI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719" y="7335871"/>
            <a:ext cx="404932" cy="45041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52651" y="7424171"/>
            <a:ext cx="1457227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u="sng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Profile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554" y="7362913"/>
            <a:ext cx="375285" cy="37528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0096" y="7406211"/>
            <a:ext cx="1535431" cy="224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u="sng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739A17C-4B2B-2614-119F-139DD769BB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1" y="2227914"/>
            <a:ext cx="5486399" cy="37737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9925" y="704374"/>
            <a:ext cx="1011054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The Business Problem: Early Signals of Customer Churn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1552099"/>
            <a:ext cx="5607011" cy="4341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206371"/>
            <a:ext cx="5865138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Detect warning signs early to reduce revenue leakage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6170" y="6540474"/>
            <a:ext cx="6341626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Telecom companies face significant revenue loss when customers churn. The critical challenge is identifying </a:t>
            </a:r>
            <a:r>
              <a:rPr lang="en-US" sz="14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who will leave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and understanding </a:t>
            </a:r>
            <a:r>
              <a:rPr lang="en-US" sz="14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why they're leaving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—early enough to implement effective retention strategies.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03" y="1552099"/>
            <a:ext cx="5255965" cy="39395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02604" y="5657493"/>
            <a:ext cx="6341626" cy="1097756"/>
          </a:xfrm>
          <a:prstGeom prst="roundRect">
            <a:avLst>
              <a:gd name="adj" fmla="val 5641"/>
            </a:avLst>
          </a:prstGeom>
          <a:solidFill>
            <a:srgbClr val="BBCDF7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004" y="5865019"/>
            <a:ext cx="184190" cy="1473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79092" y="5833243"/>
            <a:ext cx="571523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The Question: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How can we leverage ALL available data—both structured metrics and unstructured feedback—to detect churn early and understand the underlying reasons?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502604" y="6921103"/>
            <a:ext cx="63416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Goal:</a:t>
            </a:r>
            <a:r>
              <a:rPr lang="en-US" sz="16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Detect WHO will churn and WHY—early enough to stop revenue loss and implement targeted retention campaigns.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56F125-43DB-5289-DF24-0DB934468838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9463" y="618053"/>
            <a:ext cx="9891474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Mult	</a:t>
            </a:r>
            <a:r>
              <a:rPr lang="en-US" sz="4000" b="1" dirty="0" err="1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imodal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AI Solution: Predict, Explain, 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527" y="1539359"/>
            <a:ext cx="13057346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 unified ML and DL pipeline that transforms signals and sentiment into prioritized retention actions, delivering both predictive power and explainable insights.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7" y="2069403"/>
            <a:ext cx="898922" cy="1323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65233" y="2249188"/>
            <a:ext cx="27237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Tabular ML: Churn Score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65233" y="2638046"/>
            <a:ext cx="1197864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Predicting WHO will churn: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XGBoost model leverages usage patterns, billing data, and engagement metrics to identify customers at high risk of churning.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27" y="3393140"/>
            <a:ext cx="898922" cy="1323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65233" y="3572924"/>
            <a:ext cx="354580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Text DL: Sentiment and Triggers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65233" y="3961783"/>
            <a:ext cx="1197864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Understanding WHY they churn: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Deep learning NLP extracts sentiment, complaints, and specific churn triggers from unstructured customer feedback text.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27" y="4716877"/>
            <a:ext cx="898922" cy="13237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65233" y="4896661"/>
            <a:ext cx="3539252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Fusion: Prioritized Interventions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865233" y="5285519"/>
            <a:ext cx="1197864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Providing actionable insights: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Combine churn scores and sentiment signals to rank customers for targeted retention campaigns and interventions.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27" y="6040614"/>
            <a:ext cx="898922" cy="13237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65233" y="6220398"/>
            <a:ext cx="27477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CRM-Ready Action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865233" y="6609256"/>
            <a:ext cx="1197864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Deployable pipeline: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Produces real-time alerts, campaign rules, and prioritized intervention lists ready for CRM integration and business action.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FF61E2-C6CD-42D1-A342-F090E5BF8009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3657" y="591383"/>
            <a:ext cx="5642967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Dataset Overview &amp; Key Patterns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2713" y="1377553"/>
            <a:ext cx="2934414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Telecom Customer Records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4793" y="1795464"/>
            <a:ext cx="5904667" cy="37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Comprehensive dataset combining structured and unstructured data for multimodal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analysis: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2713" y="2084861"/>
            <a:ext cx="2772013" cy="46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7,043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4625" y="2630381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Total Records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2359" y="2948992"/>
            <a:ext cx="2772013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Customer accounts analyzed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99391" y="2057348"/>
            <a:ext cx="2772013" cy="46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23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11657" y="2644326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Total Features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99391" y="2948991"/>
            <a:ext cx="2772013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Data dimensions captured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5093" y="3335516"/>
            <a:ext cx="571869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Data Components: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5092" y="3638268"/>
            <a:ext cx="571869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Structured: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Tenure, monthly charges, contract type, services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5091" y="3866203"/>
            <a:ext cx="571869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Unstructured: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Customer feedback 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5090" y="4122842"/>
            <a:ext cx="571869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ML Target: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Churn (Yes/No)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5089" y="4382666"/>
            <a:ext cx="571869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DL Target: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Sentiment (Positive, Neutral, Negative)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19" y="4710729"/>
            <a:ext cx="5701961" cy="29274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20019" y="1377553"/>
            <a:ext cx="559784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Exploratory Data Analysis:</a:t>
            </a:r>
            <a:r>
              <a:rPr lang="en-US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Warning Signs Discovered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20019" y="1796772"/>
            <a:ext cx="7065288" cy="1115497"/>
          </a:xfrm>
          <a:prstGeom prst="roundRect">
            <a:avLst>
              <a:gd name="adj" fmla="val 6558"/>
            </a:avLst>
          </a:prstGeom>
          <a:solidFill>
            <a:srgbClr val="F9F9FF"/>
          </a:solidFill>
          <a:ln w="15240">
            <a:solidFill>
              <a:srgbClr val="1B54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04779" y="1796772"/>
            <a:ext cx="60960" cy="1115497"/>
          </a:xfrm>
          <a:prstGeom prst="roundRect">
            <a:avLst>
              <a:gd name="adj" fmla="val 96319"/>
            </a:avLst>
          </a:prstGeom>
          <a:solidFill>
            <a:srgbClr val="1B54DA"/>
          </a:solidFill>
          <a:ln/>
        </p:spPr>
      </p:sp>
      <p:sp>
        <p:nvSpPr>
          <p:cNvPr id="20" name="Text 17"/>
          <p:cNvSpPr/>
          <p:nvPr/>
        </p:nvSpPr>
        <p:spPr>
          <a:xfrm>
            <a:off x="7020758" y="1951792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Contract Type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020758" y="2310051"/>
            <a:ext cx="6709529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Month-to-month customers churn at significantly higher rates—the highest risk segment requiring immediate attention.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20019" y="3052048"/>
            <a:ext cx="7065288" cy="1115497"/>
          </a:xfrm>
          <a:prstGeom prst="roundRect">
            <a:avLst>
              <a:gd name="adj" fmla="val 6558"/>
            </a:avLst>
          </a:prstGeom>
          <a:solidFill>
            <a:srgbClr val="F9F9FF"/>
          </a:solidFill>
          <a:ln w="15240">
            <a:solidFill>
              <a:srgbClr val="1B54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04779" y="3052048"/>
            <a:ext cx="60960" cy="1115497"/>
          </a:xfrm>
          <a:prstGeom prst="roundRect">
            <a:avLst>
              <a:gd name="adj" fmla="val 96319"/>
            </a:avLst>
          </a:prstGeom>
          <a:solidFill>
            <a:srgbClr val="1B54DA"/>
          </a:solidFill>
          <a:ln/>
        </p:spPr>
      </p:sp>
      <p:sp>
        <p:nvSpPr>
          <p:cNvPr id="24" name="Text 21"/>
          <p:cNvSpPr/>
          <p:nvPr/>
        </p:nvSpPr>
        <p:spPr>
          <a:xfrm>
            <a:off x="7020758" y="3207068"/>
            <a:ext cx="1947267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Service Quality Issues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020758" y="3565327"/>
            <a:ext cx="6709529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Fiber optic users demonstrate higher churn rates compared to DSL users, indicating potential service quality concerns.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820019" y="4307324"/>
            <a:ext cx="7065288" cy="891897"/>
          </a:xfrm>
          <a:prstGeom prst="roundRect">
            <a:avLst>
              <a:gd name="adj" fmla="val 8202"/>
            </a:avLst>
          </a:prstGeom>
          <a:solidFill>
            <a:srgbClr val="F9F9FF"/>
          </a:solidFill>
          <a:ln w="15240">
            <a:solidFill>
              <a:srgbClr val="1B54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04779" y="4307324"/>
            <a:ext cx="60960" cy="891897"/>
          </a:xfrm>
          <a:prstGeom prst="roundRect">
            <a:avLst>
              <a:gd name="adj" fmla="val 96319"/>
            </a:avLst>
          </a:prstGeom>
          <a:solidFill>
            <a:srgbClr val="1B54DA"/>
          </a:solidFill>
          <a:ln/>
        </p:spPr>
      </p:sp>
      <p:sp>
        <p:nvSpPr>
          <p:cNvPr id="28" name="Text 25"/>
          <p:cNvSpPr/>
          <p:nvPr/>
        </p:nvSpPr>
        <p:spPr>
          <a:xfrm>
            <a:off x="7020758" y="4462343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Billing Pressure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020758" y="4820603"/>
            <a:ext cx="670952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High monthly charges correlate with churn decisions—price sensitivity is a critical factor.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20019" y="5339001"/>
            <a:ext cx="7065288" cy="891897"/>
          </a:xfrm>
          <a:prstGeom prst="roundRect">
            <a:avLst>
              <a:gd name="adj" fmla="val 8202"/>
            </a:avLst>
          </a:prstGeom>
          <a:solidFill>
            <a:srgbClr val="F9F9FF"/>
          </a:solidFill>
          <a:ln w="15240">
            <a:solidFill>
              <a:srgbClr val="1B54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04779" y="5339001"/>
            <a:ext cx="60960" cy="891897"/>
          </a:xfrm>
          <a:prstGeom prst="roundRect">
            <a:avLst>
              <a:gd name="adj" fmla="val 96319"/>
            </a:avLst>
          </a:prstGeom>
          <a:solidFill>
            <a:srgbClr val="1B54DA"/>
          </a:solidFill>
          <a:ln/>
        </p:spPr>
      </p:sp>
      <p:sp>
        <p:nvSpPr>
          <p:cNvPr id="32" name="Text 29"/>
          <p:cNvSpPr/>
          <p:nvPr/>
        </p:nvSpPr>
        <p:spPr>
          <a:xfrm>
            <a:off x="7020758" y="5494020"/>
            <a:ext cx="174748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Loyalty Timeline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020758" y="5852279"/>
            <a:ext cx="670952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Early-tenure customers face the highest risk of leaving during their initial months.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820019" y="6370677"/>
            <a:ext cx="7065288" cy="1115497"/>
          </a:xfrm>
          <a:prstGeom prst="roundRect">
            <a:avLst>
              <a:gd name="adj" fmla="val 6558"/>
            </a:avLst>
          </a:prstGeom>
          <a:solidFill>
            <a:srgbClr val="F9F9FF"/>
          </a:solidFill>
          <a:ln w="15240">
            <a:solidFill>
              <a:srgbClr val="1B54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04779" y="6370677"/>
            <a:ext cx="60960" cy="1115497"/>
          </a:xfrm>
          <a:prstGeom prst="roundRect">
            <a:avLst>
              <a:gd name="adj" fmla="val 96319"/>
            </a:avLst>
          </a:prstGeom>
          <a:solidFill>
            <a:srgbClr val="1B54DA"/>
          </a:solidFill>
          <a:ln/>
        </p:spPr>
      </p:sp>
      <p:sp>
        <p:nvSpPr>
          <p:cNvPr id="36" name="Text 33"/>
          <p:cNvSpPr/>
          <p:nvPr/>
        </p:nvSpPr>
        <p:spPr>
          <a:xfrm>
            <a:off x="7020758" y="6525697"/>
            <a:ext cx="202394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Sentiment Connection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20758" y="6883956"/>
            <a:ext cx="6709529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Customer sentiment strongly aligns with churn behavior—negative feedback is a powerful predictor of departure.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3E1CA4-4A88-624E-D5F0-E234973B165F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4142" y="807363"/>
            <a:ext cx="1122199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Feature Engineering: Bridging Structured &amp; Text Data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0472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Transforming raw telecom data into 28 powerful features that enable both machine learning and deep learning models to deliver actionable predictions.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02456" y="2142649"/>
            <a:ext cx="9625370" cy="11594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1645" y="366343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Customer Features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152305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Structured attributes: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4577477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Tenure &amp; contract details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4909185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Monthly charges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5240893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Service portfolio count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90" y="5572601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Payment methods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90" y="5904309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Fiber optic indicator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60766" y="366343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Text-Based Features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42441" y="4152305"/>
            <a:ext cx="416052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NLP-derived metrics: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242441" y="4577477"/>
            <a:ext cx="416052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Feedback length &amp; word count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42441" y="4909185"/>
            <a:ext cx="416052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Sentiment scores (positive, negative, neutral)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42441" y="5240893"/>
            <a:ext cx="416052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Compound sentiment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42441" y="5572601"/>
            <a:ext cx="416052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Linguistic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206820" y="366343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Business Flags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25633" y="4152305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Derived indicators: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825633" y="4577477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High-value customer flag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25633" y="4909185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New customer indicator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825633" y="5240893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Risk segment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825633" y="5572601"/>
            <a:ext cx="40259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Service tier markers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93790" y="6427351"/>
            <a:ext cx="13042821" cy="994886"/>
          </a:xfrm>
          <a:prstGeom prst="roundRect">
            <a:avLst>
              <a:gd name="adj" fmla="val 7182"/>
            </a:avLst>
          </a:prstGeom>
          <a:solidFill>
            <a:srgbClr val="BBCDF7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11" y="6673929"/>
            <a:ext cx="212646" cy="17002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46478" y="6639877"/>
            <a:ext cx="1232011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Key Insight: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The dual labeling strategy (Churn + Sentiment) enables a powerful multimodal AI model that provides both predictive accuracy and explanatory depth—transforming raw data into strategic business intelligence.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AAAB63-9C08-7328-7BD0-1E9D190F5E74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5888" y="597694"/>
            <a:ext cx="803862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Machine Learning: Predicting Who Will Churn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3070" y="1290140"/>
            <a:ext cx="372379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XGBoost Delivers </a:t>
            </a: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96.77% ROC-AUC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3070" y="1612940"/>
            <a:ext cx="6516648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Gradient boosting outperforms baseline models for imbalanced telecom churn classification, delivering production-ready accuracy with interpretable feature importance.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0690" y="2151395"/>
            <a:ext cx="6516648" cy="1658779"/>
          </a:xfrm>
          <a:prstGeom prst="roundRect">
            <a:avLst>
              <a:gd name="adj" fmla="val 357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310" y="2162885"/>
            <a:ext cx="6501408" cy="410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09638" y="2251407"/>
            <a:ext cx="166413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Model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63810" y="2251407"/>
            <a:ext cx="166032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Algorithm Type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14173" y="2251407"/>
            <a:ext cx="101024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ROC-AUC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14455" y="2251407"/>
            <a:ext cx="101405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Status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8310" y="2569900"/>
            <a:ext cx="6501408" cy="410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09638" y="2662292"/>
            <a:ext cx="166413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Logistic Regression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63810" y="2662292"/>
            <a:ext cx="166032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Linear Classifier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14173" y="2662292"/>
            <a:ext cx="101024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78.5%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14455" y="2662292"/>
            <a:ext cx="101405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Baseline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8310" y="2980784"/>
            <a:ext cx="6501408" cy="410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9638" y="3073177"/>
            <a:ext cx="166413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Random Forest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63810" y="3073177"/>
            <a:ext cx="166032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Ensemble (Bagging)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14173" y="3073177"/>
            <a:ext cx="101024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89.2%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14455" y="3073177"/>
            <a:ext cx="101405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Good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8310" y="3391669"/>
            <a:ext cx="6501408" cy="410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09638" y="3484061"/>
            <a:ext cx="166413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XGBoost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63810" y="3484061"/>
            <a:ext cx="1660327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Gradient Boosting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14173" y="3484061"/>
            <a:ext cx="101024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96.77%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4455" y="3484061"/>
            <a:ext cx="1014055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BEST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⭐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0690" y="4022912"/>
            <a:ext cx="3006447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Model Performance Visualization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89" y="4303995"/>
            <a:ext cx="5748163" cy="304237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3070" y="7494948"/>
            <a:ext cx="6516648" cy="18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SHAP summary plot revealing feature impact on churn predictions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870281" y="1392317"/>
            <a:ext cx="176605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Why XGBoost Wins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629525" y="1754148"/>
            <a:ext cx="624768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Superior handling of feature interactions and non-linear relationships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629525" y="2029658"/>
            <a:ext cx="624768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Robust performance on imbalanced datasets with proper 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629525" y="2305169"/>
            <a:ext cx="624768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Production-ready with SHAP explainability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629525" y="2580680"/>
            <a:ext cx="624768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Significantly outperforms linear and tree-based alternatives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629525" y="2933938"/>
            <a:ext cx="6247686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Top Predictive Features: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Tenure, Contract Type, Monthly Charges, Sentiment Compound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548" y="3794448"/>
            <a:ext cx="5583217" cy="340094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629525" y="7386757"/>
            <a:ext cx="6247686" cy="18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Confusion matrix demonstrating classification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B0FB6B-8CCF-72A8-0506-1163E9804D12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2828" y="644485"/>
            <a:ext cx="938474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Deep Learning: Understanding Why They Churn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54837" y="1204079"/>
            <a:ext cx="772072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CNN + BiLSTM + Attention Architecture Achieves </a:t>
            </a:r>
            <a:r>
              <a:rPr lang="en-US" sz="16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88.15% Accuracy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7414" y="1898571"/>
            <a:ext cx="266461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Hybrid Neural Architecture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4239" y="2411236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3770" y="24410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1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3770" y="239676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CNN Layer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1890" y="2756415"/>
            <a:ext cx="3573066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Captures local phrase patterns and linguistic features from feedback 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239" y="3698182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770" y="372794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2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0958" y="3725522"/>
            <a:ext cx="1565951" cy="22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BiLSTM Layer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80077" y="4073127"/>
            <a:ext cx="3573066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Models sequential context and long-range dependencies in customer narratives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4239" y="4985129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770" y="501489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3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0958" y="5014894"/>
            <a:ext cx="21476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Attention Mechanism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8969" y="5371861"/>
            <a:ext cx="3573066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Highlights which words and phrases drive sentiment classification decisions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74239" y="6272075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770" y="630184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4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6327" y="6270513"/>
            <a:ext cx="206859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Classification Output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4000" y="6642573"/>
            <a:ext cx="334581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Multi-class sentiment: Positive, Neutral, Negative with confidence scores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55285" y="1898571"/>
            <a:ext cx="258579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Key Capabilities &amp; Insights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9368" y="2498508"/>
            <a:ext cx="73574" cy="79296"/>
          </a:xfrm>
          <a:prstGeom prst="roundRect">
            <a:avLst>
              <a:gd name="adj" fmla="val 576574"/>
            </a:avLst>
          </a:prstGeom>
          <a:solidFill>
            <a:srgbClr val="1B54DA"/>
          </a:solidFill>
          <a:ln/>
        </p:spPr>
      </p:sp>
      <p:sp>
        <p:nvSpPr>
          <p:cNvPr id="23" name="Text 21"/>
          <p:cNvSpPr/>
          <p:nvPr/>
        </p:nvSpPr>
        <p:spPr>
          <a:xfrm>
            <a:off x="4471403" y="2442568"/>
            <a:ext cx="3811073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Trigger Detection: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Identifies specific complaint phrases like "slow internet" and "billing error" that correlate with negative sentiment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09368" y="3578286"/>
            <a:ext cx="73574" cy="79296"/>
          </a:xfrm>
          <a:prstGeom prst="roundRect">
            <a:avLst>
              <a:gd name="adj" fmla="val 576574"/>
            </a:avLst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4547374" y="3491013"/>
            <a:ext cx="3573067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Validated Performance: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Overall accuracy of 88.15% with balanced precision-recall across sentiment classes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09368" y="4658064"/>
            <a:ext cx="73574" cy="79296"/>
          </a:xfrm>
          <a:prstGeom prst="roundRect">
            <a:avLst>
              <a:gd name="adj" fmla="val 576574"/>
            </a:avLst>
          </a:prstGeom>
          <a:solidFill>
            <a:srgbClr val="1B54DA"/>
          </a:solidFill>
          <a:ln/>
        </p:spPr>
      </p:sp>
      <p:sp>
        <p:nvSpPr>
          <p:cNvPr id="27" name="Text 25"/>
          <p:cNvSpPr/>
          <p:nvPr/>
        </p:nvSpPr>
        <p:spPr>
          <a:xfrm>
            <a:off x="4547374" y="4570791"/>
            <a:ext cx="3573067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Explainability: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Attention weights reveal which feedback segments most influence predictions, enabling human 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09368" y="5737842"/>
            <a:ext cx="73574" cy="79296"/>
          </a:xfrm>
          <a:prstGeom prst="roundRect">
            <a:avLst>
              <a:gd name="adj" fmla="val 576574"/>
            </a:avLst>
          </a:prstGeom>
          <a:solidFill>
            <a:srgbClr val="1B54DA"/>
          </a:solidFill>
          <a:ln/>
        </p:spPr>
      </p:sp>
      <p:sp>
        <p:nvSpPr>
          <p:cNvPr id="29" name="Text 27"/>
          <p:cNvSpPr/>
          <p:nvPr/>
        </p:nvSpPr>
        <p:spPr>
          <a:xfrm>
            <a:off x="4547374" y="5650569"/>
            <a:ext cx="3573067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Production Monitoring: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Validation curves and class balance checks prevent overfitting and ensure reliability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9368" y="6817620"/>
            <a:ext cx="73574" cy="79296"/>
          </a:xfrm>
          <a:prstGeom prst="roundRect">
            <a:avLst>
              <a:gd name="adj" fmla="val 576574"/>
            </a:avLst>
          </a:prstGeom>
          <a:solidFill>
            <a:srgbClr val="1B54DA"/>
          </a:solidFill>
          <a:ln/>
        </p:spPr>
      </p:sp>
      <p:sp>
        <p:nvSpPr>
          <p:cNvPr id="31" name="Text 29"/>
          <p:cNvSpPr/>
          <p:nvPr/>
        </p:nvSpPr>
        <p:spPr>
          <a:xfrm>
            <a:off x="4547374" y="6730347"/>
            <a:ext cx="3573067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Quality Assurance:</a:t>
            </a:r>
            <a:r>
              <a:rPr lang="en-US" sz="16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Regular audits of class distribution and attention patterns maintain model trustworthiness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 l="2310" t="5195" r="7342"/>
          <a:stretch>
            <a:fillRect/>
          </a:stretch>
        </p:blipFill>
        <p:spPr>
          <a:xfrm>
            <a:off x="8441289" y="1645919"/>
            <a:ext cx="5398153" cy="2756993"/>
          </a:xfrm>
          <a:prstGeom prst="rect">
            <a:avLst/>
          </a:prstGeom>
        </p:spPr>
      </p:pic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rcRect r="5976"/>
          <a:stretch>
            <a:fillRect/>
          </a:stretch>
        </p:blipFill>
        <p:spPr>
          <a:xfrm>
            <a:off x="8473563" y="4553551"/>
            <a:ext cx="5266700" cy="293903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3985C20-4BC3-10F9-4403-F2540FE721AB}"/>
              </a:ext>
            </a:extLst>
          </p:cNvPr>
          <p:cNvSpPr/>
          <p:nvPr/>
        </p:nvSpPr>
        <p:spPr>
          <a:xfrm>
            <a:off x="12847621" y="7680961"/>
            <a:ext cx="1736758" cy="4733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9305" y="600908"/>
            <a:ext cx="9313188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Multimodal Fusion: ML + DL Driving Retention Action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5616" y="1328857"/>
            <a:ext cx="1310068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Combining churn probabilities, sentiment analysis, and trigger detection into a unified intelligence layer that prioritizes customer interventions with precision and context.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5616" y="1715810"/>
            <a:ext cx="13100685" cy="1060609"/>
          </a:xfrm>
          <a:prstGeom prst="roundRect">
            <a:avLst>
              <a:gd name="adj" fmla="val 562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3236" y="1723430"/>
            <a:ext cx="4361736" cy="1045369"/>
          </a:xfrm>
          <a:prstGeom prst="roundRect">
            <a:avLst>
              <a:gd name="adj" fmla="val 5707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925277" y="1865471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ML Output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5277" y="2172414"/>
            <a:ext cx="4077652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Churn Probability: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High-risk customer identification with confidence scores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44971" y="1723430"/>
            <a:ext cx="4361855" cy="1045369"/>
          </a:xfrm>
          <a:prstGeom prst="rect">
            <a:avLst/>
          </a:prstGeom>
          <a:solidFill>
            <a:srgbClr val="D2DDF8"/>
          </a:solidFill>
          <a:ln/>
        </p:spPr>
      </p:sp>
      <p:sp>
        <p:nvSpPr>
          <p:cNvPr id="9" name="Shape 7"/>
          <p:cNvSpPr/>
          <p:nvPr/>
        </p:nvSpPr>
        <p:spPr>
          <a:xfrm>
            <a:off x="5144971" y="1723430"/>
            <a:ext cx="15240" cy="1045369"/>
          </a:xfrm>
          <a:prstGeom prst="roundRect">
            <a:avLst>
              <a:gd name="adj" fmla="val 391465"/>
            </a:avLst>
          </a:prstGeom>
          <a:solidFill>
            <a:srgbClr val="B8C3DE"/>
          </a:solidFill>
          <a:ln/>
        </p:spPr>
      </p:sp>
      <p:sp>
        <p:nvSpPr>
          <p:cNvPr id="10" name="Text 8"/>
          <p:cNvSpPr/>
          <p:nvPr/>
        </p:nvSpPr>
        <p:spPr>
          <a:xfrm>
            <a:off x="5287013" y="1865471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DL Output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87013" y="2172414"/>
            <a:ext cx="4077772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Sentiment + Triggers: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Negative feedback severity and specific complaint themes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06826" y="1723430"/>
            <a:ext cx="4361855" cy="1045369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6826" y="1723430"/>
            <a:ext cx="15240" cy="1045369"/>
          </a:xfrm>
          <a:prstGeom prst="roundRect">
            <a:avLst>
              <a:gd name="adj" fmla="val 391465"/>
            </a:avLst>
          </a:prstGeom>
          <a:solidFill>
            <a:srgbClr val="346DF3"/>
          </a:solidFill>
          <a:ln/>
        </p:spPr>
      </p:sp>
      <p:sp>
        <p:nvSpPr>
          <p:cNvPr id="14" name="Text 12"/>
          <p:cNvSpPr/>
          <p:nvPr/>
        </p:nvSpPr>
        <p:spPr>
          <a:xfrm>
            <a:off x="9648867" y="1865471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Fusion Layer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48867" y="2172414"/>
            <a:ext cx="4077772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Actionable Intelligence: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Prioritized intervention list with root causes and suggested actions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5616" y="3269129"/>
            <a:ext cx="4060150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Key Insights from Multimodal Analysis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1088" y="4671686"/>
            <a:ext cx="174700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40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4x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993" y="3783896"/>
            <a:ext cx="2130623" cy="21306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21157" y="6092101"/>
            <a:ext cx="1905595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Churn Rate Multiplier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5616" y="6399044"/>
            <a:ext cx="3591989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Low-tenure customers show 4x higher churn rates than long-term subscribers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37117" y="4671686"/>
            <a:ext cx="174700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4000" b="1" dirty="0">
                <a:solidFill>
                  <a:srgbClr val="404155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78%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373" y="3692128"/>
            <a:ext cx="2130623" cy="213062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212195" y="6092101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Billing Correlation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265743" y="6399044"/>
            <a:ext cx="3770233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Billing dissatisfaction appears in 78% of negative sentiment feedback from churners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02" y="3783956"/>
            <a:ext cx="2130623" cy="213062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322471" y="6092101"/>
            <a:ext cx="2407087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Fusion Intelligence Delivers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9401760" y="6399044"/>
            <a:ext cx="4248507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WHO: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High-risk customers ranked by churn probability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9401760" y="6675865"/>
            <a:ext cx="4248507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WHY: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Specific complaint triggers and sentiment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9401760" y="6952685"/>
            <a:ext cx="4712273" cy="37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ACTION: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Tailored retention strategies based on root causes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9401760" y="7241881"/>
            <a:ext cx="4248507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PRIORITY: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Combined score enabling resource optimization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099D7C-2D58-1394-F743-67AA89A0FD93}"/>
              </a:ext>
            </a:extLst>
          </p:cNvPr>
          <p:cNvSpPr/>
          <p:nvPr/>
        </p:nvSpPr>
        <p:spPr>
          <a:xfrm>
            <a:off x="12758568" y="774736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6787" y="926306"/>
            <a:ext cx="6996708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Streamlit App: Real-Time Deployment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2761" y="1475422"/>
            <a:ext cx="33048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Production-Ready Telecom Churn AI System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943457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Interactive web application demonstrating end-to-end ML/DL pipeline with real-time predictions, batch processing capabilities, and comprehensive business intelligence 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345055"/>
            <a:ext cx="442198" cy="4421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971443"/>
            <a:ext cx="25173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Single Customer Prediction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290173"/>
            <a:ext cx="64292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Real-time churn probability and sentiment analysis with feature input validation and instant results display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7235" y="2345055"/>
            <a:ext cx="442198" cy="4421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7235" y="2971443"/>
            <a:ext cx="245554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Sentiment Analysis Engine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407235" y="3290173"/>
            <a:ext cx="6429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Live feedback processing using trained DL model to extract sentiment scores and identify churn triggers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056459"/>
            <a:ext cx="442198" cy="4421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468284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Batch CSV Scoring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93790" y="5001578"/>
            <a:ext cx="64292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Upload customer datasets for bulk predictions with exportable results and priority rankings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7235" y="4056459"/>
            <a:ext cx="442198" cy="4421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7235" y="4682847"/>
            <a:ext cx="212836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SQLite History Tracking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407235" y="5001578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Persistent storage of all predictions enabling trend analysis and audit trail maintenance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3790" y="5532120"/>
            <a:ext cx="442198" cy="4421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6158508"/>
            <a:ext cx="184951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Business Dashboard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93790" y="6477238"/>
            <a:ext cx="64292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Executive metrics visualization showing churn trends, segment analysis, and intervention effectiveness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7235" y="5532120"/>
            <a:ext cx="442198" cy="4421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07235" y="61585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SHAP Explainability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407235" y="6477238"/>
            <a:ext cx="6429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Model interpretation layer displaying feature contributions for transparency and trust-building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263873" y="7214234"/>
            <a:ext cx="628672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Streamlit interface components: Input form, Prediction output, and Analytics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A506AF-4798-912F-6CFF-EEA58942388D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E5E0E2-57EB-87AC-6620-CEC2F1700E7D}"/>
              </a:ext>
            </a:extLst>
          </p:cNvPr>
          <p:cNvSpPr txBox="1"/>
          <p:nvPr/>
        </p:nvSpPr>
        <p:spPr>
          <a:xfrm>
            <a:off x="0" y="135548"/>
            <a:ext cx="14630400" cy="57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000" b="1" dirty="0" err="1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Streamlit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App Output: Customer / Basic User Role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3C769-C35C-987F-B754-617C8DEA9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" r="4003" b="2708"/>
          <a:stretch>
            <a:fillRect/>
          </a:stretch>
        </p:blipFill>
        <p:spPr>
          <a:xfrm>
            <a:off x="9839251" y="1281945"/>
            <a:ext cx="4562936" cy="6812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EA83EC-1ED2-29CA-4084-3C58CB195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8" r="4056" b="5205"/>
          <a:stretch>
            <a:fillRect/>
          </a:stretch>
        </p:blipFill>
        <p:spPr>
          <a:xfrm>
            <a:off x="5172734" y="1281945"/>
            <a:ext cx="4562937" cy="6812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F0C986-7A2B-F521-EBCD-ED9669CDD7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87" r="4524" b="5847"/>
          <a:stretch>
            <a:fillRect/>
          </a:stretch>
        </p:blipFill>
        <p:spPr>
          <a:xfrm>
            <a:off x="257403" y="1281945"/>
            <a:ext cx="4740948" cy="68121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DF55B3-9C44-9AC3-D3C2-D568F2A39624}"/>
              </a:ext>
            </a:extLst>
          </p:cNvPr>
          <p:cNvSpPr txBox="1"/>
          <p:nvPr/>
        </p:nvSpPr>
        <p:spPr>
          <a:xfrm>
            <a:off x="272116" y="805033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8BC1E-D486-B635-8D51-8C2A3C5AC396}"/>
              </a:ext>
            </a:extLst>
          </p:cNvPr>
          <p:cNvSpPr txBox="1"/>
          <p:nvPr/>
        </p:nvSpPr>
        <p:spPr>
          <a:xfrm>
            <a:off x="5172734" y="805033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History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30E91-93AE-EE67-C135-87068B5CD686}"/>
              </a:ext>
            </a:extLst>
          </p:cNvPr>
          <p:cNvSpPr txBox="1"/>
          <p:nvPr/>
        </p:nvSpPr>
        <p:spPr>
          <a:xfrm>
            <a:off x="9839250" y="805033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&amp; Info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367211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F4DB3D-ABA6-FB6D-62AB-316C8AB5DDDB}"/>
              </a:ext>
            </a:extLst>
          </p:cNvPr>
          <p:cNvSpPr txBox="1"/>
          <p:nvPr/>
        </p:nvSpPr>
        <p:spPr>
          <a:xfrm>
            <a:off x="0" y="135548"/>
            <a:ext cx="14630400" cy="55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000" b="1" dirty="0" err="1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Streamlit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App Output: Business / CRM Manager Role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F5E88-E8DF-B274-C706-67E3570F0400}"/>
              </a:ext>
            </a:extLst>
          </p:cNvPr>
          <p:cNvSpPr txBox="1"/>
          <p:nvPr/>
        </p:nvSpPr>
        <p:spPr>
          <a:xfrm>
            <a:off x="172121" y="677423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Prediction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55407-E2EA-D07D-33A3-E59B5E1103E2}"/>
              </a:ext>
            </a:extLst>
          </p:cNvPr>
          <p:cNvSpPr txBox="1"/>
          <p:nvPr/>
        </p:nvSpPr>
        <p:spPr>
          <a:xfrm>
            <a:off x="4518521" y="677423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Dashboard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6B38EF-21E6-99B9-4071-460CF40E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4" r="4805" b="1803"/>
          <a:stretch>
            <a:fillRect/>
          </a:stretch>
        </p:blipFill>
        <p:spPr>
          <a:xfrm>
            <a:off x="4518521" y="1143576"/>
            <a:ext cx="5859361" cy="69504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1A780D-E7FC-7412-D710-E9A81CDE2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6" r="3291" b="7891"/>
          <a:stretch>
            <a:fillRect/>
          </a:stretch>
        </p:blipFill>
        <p:spPr>
          <a:xfrm>
            <a:off x="172122" y="1143577"/>
            <a:ext cx="4270786" cy="69504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7525C8-FC72-309C-B9E9-C7263D555464}"/>
              </a:ext>
            </a:extLst>
          </p:cNvPr>
          <p:cNvSpPr txBox="1"/>
          <p:nvPr/>
        </p:nvSpPr>
        <p:spPr>
          <a:xfrm>
            <a:off x="10453497" y="614153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History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601536-469A-1804-47DE-A96614FC73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6" r="3095" b="4576"/>
          <a:stretch>
            <a:fillRect/>
          </a:stretch>
        </p:blipFill>
        <p:spPr>
          <a:xfrm>
            <a:off x="10453497" y="1143577"/>
            <a:ext cx="4004782" cy="695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236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616D80-3C47-32EA-A813-079AD304F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4" r="3624"/>
          <a:stretch>
            <a:fillRect/>
          </a:stretch>
        </p:blipFill>
        <p:spPr>
          <a:xfrm>
            <a:off x="9889065" y="720758"/>
            <a:ext cx="4311029" cy="73739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E64F38-AE05-8A26-AA22-9868BCDE6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04"/>
          <a:stretch>
            <a:fillRect/>
          </a:stretch>
        </p:blipFill>
        <p:spPr>
          <a:xfrm>
            <a:off x="5005092" y="720758"/>
            <a:ext cx="4752095" cy="7373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46402F-F156-0570-9BEA-585C47DAFA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6" r="3863"/>
          <a:stretch>
            <a:fillRect/>
          </a:stretch>
        </p:blipFill>
        <p:spPr>
          <a:xfrm>
            <a:off x="254806" y="720759"/>
            <a:ext cx="4618408" cy="7373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D8713E-CDC5-1E11-BEFC-614433685E5B}"/>
              </a:ext>
            </a:extLst>
          </p:cNvPr>
          <p:cNvSpPr txBox="1"/>
          <p:nvPr/>
        </p:nvSpPr>
        <p:spPr>
          <a:xfrm>
            <a:off x="10001296" y="25460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&amp; Info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D0B4E-013C-77FF-5AF2-B1515CA15438}"/>
              </a:ext>
            </a:extLst>
          </p:cNvPr>
          <p:cNvSpPr txBox="1"/>
          <p:nvPr/>
        </p:nvSpPr>
        <p:spPr>
          <a:xfrm>
            <a:off x="416170" y="254608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Prediction History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BE3D9-9A34-4B20-8A8B-D31E857E125D}"/>
              </a:ext>
            </a:extLst>
          </p:cNvPr>
          <p:cNvSpPr txBox="1"/>
          <p:nvPr/>
        </p:nvSpPr>
        <p:spPr>
          <a:xfrm>
            <a:off x="5413882" y="254608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Insights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0007467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EB487-951F-CA1A-59FB-E4F57B59C902}"/>
              </a:ext>
            </a:extLst>
          </p:cNvPr>
          <p:cNvSpPr txBox="1"/>
          <p:nvPr/>
        </p:nvSpPr>
        <p:spPr>
          <a:xfrm>
            <a:off x="0" y="210854"/>
            <a:ext cx="14630400" cy="55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000" b="1" dirty="0" err="1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Streamlit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App Output: Data Scientist / Analyst</a:t>
            </a:r>
            <a:r>
              <a:rPr lang="en-IN" dirty="0"/>
              <a:t> </a:t>
            </a: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Role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55FFF-F46A-A6E1-0C30-7E9E28CB2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5" r="4395" b="6653"/>
          <a:stretch>
            <a:fillRect/>
          </a:stretch>
        </p:blipFill>
        <p:spPr>
          <a:xfrm>
            <a:off x="4472184" y="1206217"/>
            <a:ext cx="9760183" cy="68770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83B9DB-833C-24DB-048E-600A97D6945D}"/>
              </a:ext>
            </a:extLst>
          </p:cNvPr>
          <p:cNvSpPr txBox="1"/>
          <p:nvPr/>
        </p:nvSpPr>
        <p:spPr>
          <a:xfrm>
            <a:off x="7519649" y="770999"/>
            <a:ext cx="423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/ Restore Prediction History Page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8F694-38BB-751D-7029-32652AD2D93D}"/>
              </a:ext>
            </a:extLst>
          </p:cNvPr>
          <p:cNvSpPr txBox="1"/>
          <p:nvPr/>
        </p:nvSpPr>
        <p:spPr>
          <a:xfrm>
            <a:off x="398033" y="1200051"/>
            <a:ext cx="39372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 err="1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Streamlit</a:t>
            </a:r>
            <a:r>
              <a:rPr lang="en-US" sz="3200" b="1" i="1" u="sng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App Output Images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Pages are same as  Business / CRM Manager Role pages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0B0BF-1087-078D-FC26-CA07314D312D}"/>
              </a:ext>
            </a:extLst>
          </p:cNvPr>
          <p:cNvSpPr txBox="1"/>
          <p:nvPr/>
        </p:nvSpPr>
        <p:spPr>
          <a:xfrm>
            <a:off x="742277" y="3015933"/>
            <a:ext cx="3248810" cy="3371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Page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Prediction Page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Dashboard Page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history Page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History Tab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History Tab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Insights Tab</a:t>
            </a:r>
          </a:p>
          <a:p>
            <a:pPr marL="285750" indent="-3240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&amp; Info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823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98EF51-3958-3406-A23C-1772810EF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6" r="2891" b="3182"/>
          <a:stretch>
            <a:fillRect/>
          </a:stretch>
        </p:blipFill>
        <p:spPr>
          <a:xfrm>
            <a:off x="9860185" y="1123913"/>
            <a:ext cx="4509852" cy="6970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482ABF-6F5D-9B60-524C-46B9D31F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16" r="3977" b="3182"/>
          <a:stretch>
            <a:fillRect/>
          </a:stretch>
        </p:blipFill>
        <p:spPr>
          <a:xfrm>
            <a:off x="5172032" y="1123914"/>
            <a:ext cx="4509852" cy="6970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6A85CF-0038-0584-D3C2-92F7FA447B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14" r="3543" b="5525"/>
          <a:stretch>
            <a:fillRect/>
          </a:stretch>
        </p:blipFill>
        <p:spPr>
          <a:xfrm>
            <a:off x="260363" y="1123912"/>
            <a:ext cx="4733368" cy="6970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E6A005-3D97-0AA5-32D4-06551CDAE8E7}"/>
              </a:ext>
            </a:extLst>
          </p:cNvPr>
          <p:cNvSpPr txBox="1"/>
          <p:nvPr/>
        </p:nvSpPr>
        <p:spPr>
          <a:xfrm>
            <a:off x="9942651" y="667232"/>
            <a:ext cx="2773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Explainability Tab 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C5160-F7B2-9258-EFA8-BFA8BA9FB051}"/>
              </a:ext>
            </a:extLst>
          </p:cNvPr>
          <p:cNvSpPr txBox="1"/>
          <p:nvPr/>
        </p:nvSpPr>
        <p:spPr>
          <a:xfrm>
            <a:off x="5101507" y="667233"/>
            <a:ext cx="374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Prediction Explainability Tab 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96761-CEEC-A104-70C7-BC38212D8020}"/>
              </a:ext>
            </a:extLst>
          </p:cNvPr>
          <p:cNvSpPr txBox="1"/>
          <p:nvPr/>
        </p:nvSpPr>
        <p:spPr>
          <a:xfrm>
            <a:off x="260363" y="667232"/>
            <a:ext cx="3722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Prediction Explainability Tab</a:t>
            </a:r>
            <a:r>
              <a:rPr lang="en-I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D77E8-03C4-5439-516B-D0378343A1A9}"/>
              </a:ext>
            </a:extLst>
          </p:cNvPr>
          <p:cNvSpPr txBox="1"/>
          <p:nvPr/>
        </p:nvSpPr>
        <p:spPr>
          <a:xfrm>
            <a:off x="0" y="167822"/>
            <a:ext cx="14630400" cy="55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Model Explainability -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Shap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 Insights Page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7869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1500" y="631269"/>
            <a:ext cx="776728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Results, Impact &amp; What This Demonstrates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60540"/>
            <a:ext cx="3289816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Industry-Grade AI for Telecom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123837"/>
            <a:ext cx="3164086" cy="1616154"/>
          </a:xfrm>
          <a:prstGeom prst="roundRect">
            <a:avLst>
              <a:gd name="adj" fmla="val 4526"/>
            </a:avLst>
          </a:prstGeom>
          <a:solidFill>
            <a:srgbClr val="F9F9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108597"/>
            <a:ext cx="3164086" cy="60960"/>
          </a:xfrm>
          <a:prstGeom prst="roundRect">
            <a:avLst>
              <a:gd name="adj" fmla="val 101581"/>
            </a:avLst>
          </a:prstGeom>
          <a:solidFill>
            <a:srgbClr val="1B54DA"/>
          </a:solidFill>
          <a:ln/>
        </p:spPr>
      </p:sp>
      <p:sp>
        <p:nvSpPr>
          <p:cNvPr id="6" name="Shape 4"/>
          <p:cNvSpPr/>
          <p:nvPr/>
        </p:nvSpPr>
        <p:spPr>
          <a:xfrm>
            <a:off x="2154674" y="1902738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B54DA"/>
          </a:solidFill>
          <a:ln/>
        </p:spPr>
      </p:sp>
      <p:sp>
        <p:nvSpPr>
          <p:cNvPr id="7" name="Text 5"/>
          <p:cNvSpPr/>
          <p:nvPr/>
        </p:nvSpPr>
        <p:spPr>
          <a:xfrm>
            <a:off x="2330342" y="1980954"/>
            <a:ext cx="176808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1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6429" y="2492335"/>
            <a:ext cx="217122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Predict WHO Will Leave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6429" y="2870121"/>
            <a:ext cx="2838807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XGBoost model with 96.77% ROC-AUC identifies high-risk customers before they churn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05275" y="2123837"/>
            <a:ext cx="3164086" cy="1616154"/>
          </a:xfrm>
          <a:prstGeom prst="roundRect">
            <a:avLst>
              <a:gd name="adj" fmla="val 4526"/>
            </a:avLst>
          </a:prstGeom>
          <a:solidFill>
            <a:srgbClr val="F9F9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05275" y="2108597"/>
            <a:ext cx="3164086" cy="60960"/>
          </a:xfrm>
          <a:prstGeom prst="roundRect">
            <a:avLst>
              <a:gd name="adj" fmla="val 101581"/>
            </a:avLst>
          </a:prstGeom>
          <a:solidFill>
            <a:srgbClr val="1B54D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66159" y="1902738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5641827" y="1980954"/>
            <a:ext cx="176808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2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67914" y="2492335"/>
            <a:ext cx="26291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Understand WHY They Leave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67914" y="2870121"/>
            <a:ext cx="2838807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Deep learning sentiment analysis with 88.15% accuracy reveals specific complaint triggers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4108490"/>
            <a:ext cx="6475571" cy="1144667"/>
          </a:xfrm>
          <a:prstGeom prst="roundRect">
            <a:avLst>
              <a:gd name="adj" fmla="val 6391"/>
            </a:avLst>
          </a:prstGeom>
          <a:solidFill>
            <a:srgbClr val="F9F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4093250"/>
            <a:ext cx="6475571" cy="60960"/>
          </a:xfrm>
          <a:prstGeom prst="roundRect">
            <a:avLst>
              <a:gd name="adj" fmla="val 101581"/>
            </a:avLst>
          </a:prstGeom>
          <a:solidFill>
            <a:srgbClr val="1B54DA"/>
          </a:solidFill>
          <a:ln/>
        </p:spPr>
      </p:sp>
      <p:sp>
        <p:nvSpPr>
          <p:cNvPr id="18" name="Shape 16"/>
          <p:cNvSpPr/>
          <p:nvPr/>
        </p:nvSpPr>
        <p:spPr>
          <a:xfrm>
            <a:off x="3810476" y="3887391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3986144" y="3965607"/>
            <a:ext cx="176808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3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6429" y="4476988"/>
            <a:ext cx="250067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Enable Proactive Retention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6429" y="4854773"/>
            <a:ext cx="615029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Fusion intelligence prioritizes interventions and suggests targeted retention strategies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3790" y="5492661"/>
            <a:ext cx="6475571" cy="25956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5684401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Key Takeaway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3790" y="6108144"/>
            <a:ext cx="647557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Multimodal AI = Powerful Customer Intelligence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3790" y="6476524"/>
            <a:ext cx="647557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This deployment-ready pipeline transforms raw telecom data into strategic retention actions, demonstrating production-grade data science capabilities.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36550" y="1460540"/>
            <a:ext cx="331696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Technical Skills Demonstrated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36550" y="1902738"/>
            <a:ext cx="3030022" cy="1395055"/>
          </a:xfrm>
          <a:prstGeom prst="roundRect">
            <a:avLst>
              <a:gd name="adj" fmla="val 4439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1569" y="2057757"/>
            <a:ext cx="248162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End-to-End ML/DL Pipeline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91569" y="2435543"/>
            <a:ext cx="271998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Rare multimodal AI skill combining tabular ML, text DL, and intelligent fusion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813971" y="1902738"/>
            <a:ext cx="3030141" cy="1395055"/>
          </a:xfrm>
          <a:prstGeom prst="roundRect">
            <a:avLst>
              <a:gd name="adj" fmla="val 4439"/>
            </a:avLst>
          </a:prstGeom>
          <a:solidFill>
            <a:srgbClr val="D2DDF8"/>
          </a:solidFill>
          <a:ln w="7620">
            <a:solidFill>
              <a:srgbClr val="B8C3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68990" y="2057757"/>
            <a:ext cx="221420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Production Deployment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68990" y="2435543"/>
            <a:ext cx="272010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Real-time Streamlit app with SQLite backend, batch processing, and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36550" y="3445193"/>
            <a:ext cx="3030022" cy="1395055"/>
          </a:xfrm>
          <a:prstGeom prst="roundRect">
            <a:avLst>
              <a:gd name="adj" fmla="val 4439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1569" y="360021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Explainable AI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91569" y="3977997"/>
            <a:ext cx="271998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SHAP integration and attention mechanisms for model transparency and trust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813971" y="3445193"/>
            <a:ext cx="3030141" cy="1395055"/>
          </a:xfrm>
          <a:prstGeom prst="roundRect">
            <a:avLst>
              <a:gd name="adj" fmla="val 4439"/>
            </a:avLst>
          </a:prstGeom>
          <a:solidFill>
            <a:srgbClr val="D2DDF8"/>
          </a:solidFill>
          <a:ln w="7620">
            <a:solidFill>
              <a:srgbClr val="B8C3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68990" y="360021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Business Impact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68990" y="3977997"/>
            <a:ext cx="272010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CRM-ready outputs with actionable insights and measurable ROI potential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36550" y="5079752"/>
            <a:ext cx="6207562" cy="25956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636550" y="5271492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Technology Stack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636550" y="5695236"/>
            <a:ext cx="62075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Languages &amp; Frameworks: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Python, TensorFlow, XGBoost, VADER, SHAP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36550" y="6063615"/>
            <a:ext cx="62075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Deployment: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Streamlit, SQLite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36550" y="6431994"/>
            <a:ext cx="62075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Techniques:</a:t>
            </a:r>
            <a:r>
              <a:rPr lang="en-US" sz="1400" dirty="0">
                <a:solidFill>
                  <a:srgbClr val="404155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ML, Deep Learning, NLP, Feature Engineering, Model Explainability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196977" y="6815138"/>
            <a:ext cx="5086588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B54DA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Thank You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B60291-AD75-5BD0-2707-C06FBE651267}"/>
              </a:ext>
            </a:extLst>
          </p:cNvPr>
          <p:cNvSpPr/>
          <p:nvPr/>
        </p:nvSpPr>
        <p:spPr>
          <a:xfrm>
            <a:off x="12758568" y="7758112"/>
            <a:ext cx="1871832" cy="385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1520</Words>
  <Application>Microsoft Office PowerPoint</Application>
  <PresentationFormat>Custom</PresentationFormat>
  <Paragraphs>227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Times New Roman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Ayesha Banu</cp:lastModifiedBy>
  <cp:revision>10</cp:revision>
  <dcterms:created xsi:type="dcterms:W3CDTF">2025-12-14T12:18:42Z</dcterms:created>
  <dcterms:modified xsi:type="dcterms:W3CDTF">2025-12-20T07:54:50Z</dcterms:modified>
</cp:coreProperties>
</file>